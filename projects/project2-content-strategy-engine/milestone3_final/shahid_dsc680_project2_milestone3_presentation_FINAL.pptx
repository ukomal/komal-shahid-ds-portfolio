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 evening]. Before I tell you about my project, let me start with a statement I think every single person in a marketing or content role will recognize.
Every marketer is guessing. Not because they're bad at their jobs — but because the tools available to them have never given them a real answer to the most fundamental question: what should I create, and why?
This project is about changing that. Let me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it started.
I kept noticing the same pattern: marketing teams spending hours debating what to create — which topic, which format, how to open the post — and making those decisions entirely on gut feel. No data, no framework, just hope.
So I asked: does the data already know what wins? If I look at thousands of posts that have already been published and measured, can I reverse-engineer what made the good ones good?
That question led to this project. Not just analyzing content — but building a system that learns from it and then generates new content designed to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scale of the problem.
The global content marketing industry hit $107 billion in 2026. Content now accounts for 26% of total marketing spend — it's the single largest budget line for most marketing organizations. And the number one challenge those marketers report? Proving it works.
Here's the paradox: generative AI made content production incredibly cheap. You can now produce ten blog posts in the time it used to take to write one. But that just means you can now make the wrong thing ten times faster.
The fundamental problem — what should I make, and why will it resonate? — remains completely unsolved.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hypothesis that drove everything.
What if content performance isn't random? What if — hidden inside thousands of posts that have already been published and measured — there's a pattern that tells you which topics resonate, which formats hold attention, which hooks make people stop scrolling, and which posting times maximize reach?
And then: what if you could use that pattern to condition an AI generator — so instead of generating generic content, it generates content specifically designed to fit the winning profile?
That's the hypothesis. Analyze what's already working. Learn the pattern. Build it into the generation. Let's see if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system works — five stages from raw data to a publishable draft.
Stage one: collect. I pull posts from Reddit and blog sources in the DTC fitness and recovery niche, along with 24 months of Google Trends data. Stage two: tag. Every post gets labeled — what topic does it cover, what format is it, what kind of opening hook does it use, what day and time was it posted.
Stage three: model. I run two algorithms — ordinary least squares regression, which gives me readable coefficients I can turn into strategy rules, and gradient boosting for predictive benchmarking. Stage four: generate. An AI is prompted using the specific feature combinations the model identified as winners. Stage five: test. I bootstrap a confidence interval to find out whether conditioned drafts actually outperform random ones.
Most content tools either do analysis or generation. This pipeline does both — and the connection between them is what makes it actually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first major discovery.
The model reveals a clear, consistent hierarchy. After controlling for how large the subreddit is, four factors emerge as the strongest engagement predictors — in order.
Topic matters most: recovery, sleep, and mental health themes consistently outperform other subjects. Then hook style: question and contrarian openers outperform direct, promotional openers. Then format: how-to guides and case studies outperform listicles. And timing: Tuesday through Thursday, between 7 and 11 in the morning, is the peak window every week.
Both models — OLS and gradient boosting — agree on this hierarchy completely. That consistency is what makes these findings trustworthy as strategy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number two: the winning topic-format combination isn't a mystery — it's sitting right there in the engagement data.
This heatmap shows mean engagement by topic-format pair. The bright cells are the winners. Recovery paired with how-to content is the top performer. Mental health with case studies comes in second. Sleep content in how-to format is a consistent third.
All three show statistically significant differences at p less than .001 across topic, format, and hook. The ANOVA results confirm this isn't noise.
And at the bottom of the map: community topics in listicle format consistently underperform. That's the combination to avoid.
This heatmap is essentially your editorial calendar for the next quarter — use the bright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number three: can we use Google search trends to predict what's about to perform well — before we even publish?
The answer is: sometimes yes, sometimes no — and knowing the difference is the point.
For training content, search interest leads community engagement by about two weeks. That means when you see training-related searches spike, post your training content two weeks later and you'll catch the wave. For gear content, the lead is five weeks, though the signal is weaker.
But for recovery and sleep — it flips. Community engagement actually leads Google Trends. These communities are ahead of the mainstream search curve. For those topics, you don't need Trends to tell you — the community is already showing you.
The takeaway: don't treat Trends as a universal crystal ball. Check the lead-lag direction per topic. For some, it's a predictive signal. For others, it's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payoff finding.
When the AI generator is conditioned on the patterns the model identified — the right topic, format, hook, and timing — the predicted engagement lifts by 37% over a baseline of uninformed generation.
The 95% bootstrap confidence interval runs from plus 15% to plus 64%. That interval does not include zero. With 1,000 resamples, that's a statistically solid result.
To be precise about what this means: this is a model-predicted uplift. The same OLS model that explained 27% of real engagement variance is scoring both batches. It is not yet a live A/B test result — that's the most important next step. But a confidence interval that excludes zero says the conditioning is doing something real.
The hypothesis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+37% lift actually looks like in practice.
On the left: an uninformed draft. Community topic, listicle format, direct hook, posted Saturday night. Predicted engagement: 23 upvotes. Generic, forgettable, no strategic thinking behind it.
On the right: an AI-conditioned draft. Recovery topic, how-to format, question hook, posted Tuesday morning. Predicted engagement: 312 upvotes. Specific, curiosity-driven, timed to the peak window.
Same AI. Same capability. The only difference is whether the model's recommendations were used as inputs.
This is what it means to have a content strategy engine — not just a text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to the playbook, I want to be explicit about the ethical boundaries and honest limitations of this system — because responsible data science means being upfront about both.
On ethics: this system uses aggregate data only. No individual user is modeled, tracked, or identified. The data collectors stay within API rate limits and respect robots.txt on every blog source. Every AI-generated draft includes an AI disclosure, consistent with FTC guidance updated in May 2026. And I've explicitly scoped out high-risk use cases — political persuasion, health claims, and financial advice are all out of scope.
On limitations: the corpus is calibrated and synthetic, so the specific numbers are illustrative of the methodology rather than guaranteed live-data results. Most importantly — predicted engagement is not the same as realized engagement. A live A/B test on the actual platform is required to confirm the +37% lift holds in production. And Google Trends as a leading indicator is a per-topic relationship, not a rule that applies across the board.
These aren't weaknesses to hide — they're the honest scope of what the current system can and can't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you can actually do with this — starting next week.
Five moves: anchor your editorial calendar on recovery, sleep, and mental health topics. Default to how-to and case-study formats — one of each per week. Open with a question or a contrarian statement — not a direct pitch. Schedule your primary posts Tuesday through Thursday between 7 and 11 in the morning. And use the AI-conditioned drafts as Variant A in a live A/B test — that's how you confirm the lift in the real world.
On the right is the Streamlit dashboard — the live tool that does all of this in real time. You set your niche and filters on the left, and the dashboard surfaces the top topic-format combination, the best posting window, and the recommended hook. Hit Generate and you get a conditioned AI draft ready to go.
This isn't a one-time research output. It's a repeatable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close with this.
The future of content isn't a guess. It's a strategy — one built on data, tested against evidence, and designed to improve over time.
This project built a system that learns what wins, generates content designed to win, and packages the findings into a playbook any marketing team can use next week. The results — 27% of engagement explained, +37% predicted lift, confidence intervals that exclude zero — aren't the end. They're the starting point for a live A/B test that will confirm or refine everything we found.
Thank you. I'm happy to take questions — and everything is in the GitHub repo if you'd like to dig into the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548640" y="365760"/>
            <a:ext cx="45720" cy="45720"/>
          </a:xfrm>
          <a:prstGeom prst="ellipse">
            <a:avLst/>
          </a:prstGeom>
          <a:solidFill>
            <a:srgbClr val="FFFFFF">
              <a:alpha val="12000"/>
            </a:srgbClr>
          </a:solidFill>
          <a:ln w="12700">
            <a:solidFill>
              <a:srgbClr val="FFFFFF">
                <a:alpha val="12000"/>
              </a:srgbClr>
            </a:solidFill>
            <a:prstDash val="solid"/>
          </a:ln>
        </p:spPr>
      </p:sp>
      <p:sp>
        <p:nvSpPr>
          <p:cNvPr id="3" name="Shape 1"/>
          <p:cNvSpPr/>
          <p:nvPr/>
        </p:nvSpPr>
        <p:spPr>
          <a:xfrm>
            <a:off x="1737360" y="365760"/>
            <a:ext cx="45720" cy="45720"/>
          </a:xfrm>
          <a:prstGeom prst="ellipse">
            <a:avLst/>
          </a:prstGeom>
          <a:solidFill>
            <a:srgbClr val="FFFFFF">
              <a:alpha val="12000"/>
            </a:srgbClr>
          </a:solidFill>
          <a:ln w="12700">
            <a:solidFill>
              <a:srgbClr val="FFFFFF">
                <a:alpha val="12000"/>
              </a:srgbClr>
            </a:solidFill>
            <a:prstDash val="solid"/>
          </a:ln>
        </p:spPr>
      </p:sp>
      <p:sp>
        <p:nvSpPr>
          <p:cNvPr id="4" name="Shape 2"/>
          <p:cNvSpPr/>
          <p:nvPr/>
        </p:nvSpPr>
        <p:spPr>
          <a:xfrm>
            <a:off x="2926080" y="365760"/>
            <a:ext cx="45720" cy="45720"/>
          </a:xfrm>
          <a:prstGeom prst="ellipse">
            <a:avLst/>
          </a:prstGeom>
          <a:solidFill>
            <a:srgbClr val="FFFFFF">
              <a:alpha val="12000"/>
            </a:srgbClr>
          </a:solidFill>
          <a:ln w="12700">
            <a:solidFill>
              <a:srgbClr val="FFFFFF">
                <a:alpha val="12000"/>
              </a:srgbClr>
            </a:solidFill>
            <a:prstDash val="solid"/>
          </a:ln>
        </p:spPr>
      </p:sp>
      <p:sp>
        <p:nvSpPr>
          <p:cNvPr id="5" name="Shape 3"/>
          <p:cNvSpPr/>
          <p:nvPr/>
        </p:nvSpPr>
        <p:spPr>
          <a:xfrm>
            <a:off x="4114800" y="365760"/>
            <a:ext cx="45720" cy="45720"/>
          </a:xfrm>
          <a:prstGeom prst="ellipse">
            <a:avLst/>
          </a:prstGeom>
          <a:solidFill>
            <a:srgbClr val="FFFFFF">
              <a:alpha val="12000"/>
            </a:srgbClr>
          </a:solidFill>
          <a:ln w="12700">
            <a:solidFill>
              <a:srgbClr val="FFFFFF">
                <a:alpha val="12000"/>
              </a:srgbClr>
            </a:solidFill>
            <a:prstDash val="solid"/>
          </a:ln>
        </p:spPr>
      </p:sp>
      <p:sp>
        <p:nvSpPr>
          <p:cNvPr id="6" name="Shape 4"/>
          <p:cNvSpPr/>
          <p:nvPr/>
        </p:nvSpPr>
        <p:spPr>
          <a:xfrm>
            <a:off x="5303520" y="365760"/>
            <a:ext cx="45720" cy="45720"/>
          </a:xfrm>
          <a:prstGeom prst="ellipse">
            <a:avLst/>
          </a:prstGeom>
          <a:solidFill>
            <a:srgbClr val="FFFFFF">
              <a:alpha val="12000"/>
            </a:srgbClr>
          </a:solidFill>
          <a:ln w="12700">
            <a:solidFill>
              <a:srgbClr val="FFFFFF">
                <a:alpha val="12000"/>
              </a:srgbClr>
            </a:solidFill>
            <a:prstDash val="solid"/>
          </a:ln>
        </p:spPr>
      </p:sp>
      <p:sp>
        <p:nvSpPr>
          <p:cNvPr id="7" name="Shape 5"/>
          <p:cNvSpPr/>
          <p:nvPr/>
        </p:nvSpPr>
        <p:spPr>
          <a:xfrm>
            <a:off x="6492240" y="365760"/>
            <a:ext cx="45720" cy="45720"/>
          </a:xfrm>
          <a:prstGeom prst="ellipse">
            <a:avLst/>
          </a:prstGeom>
          <a:solidFill>
            <a:srgbClr val="FFFFFF">
              <a:alpha val="12000"/>
            </a:srgbClr>
          </a:solidFill>
          <a:ln w="12700">
            <a:solidFill>
              <a:srgbClr val="FFFFFF">
                <a:alpha val="12000"/>
              </a:srgbClr>
            </a:solidFill>
            <a:prstDash val="solid"/>
          </a:ln>
        </p:spPr>
      </p:sp>
      <p:sp>
        <p:nvSpPr>
          <p:cNvPr id="8" name="Shape 6"/>
          <p:cNvSpPr/>
          <p:nvPr/>
        </p:nvSpPr>
        <p:spPr>
          <a:xfrm>
            <a:off x="7680960" y="365760"/>
            <a:ext cx="45720" cy="45720"/>
          </a:xfrm>
          <a:prstGeom prst="ellipse">
            <a:avLst/>
          </a:prstGeom>
          <a:solidFill>
            <a:srgbClr val="FFFFFF">
              <a:alpha val="12000"/>
            </a:srgbClr>
          </a:solidFill>
          <a:ln w="12700">
            <a:solidFill>
              <a:srgbClr val="FFFFFF">
                <a:alpha val="12000"/>
              </a:srgbClr>
            </a:solidFill>
            <a:prstDash val="solid"/>
          </a:ln>
        </p:spPr>
      </p:sp>
      <p:sp>
        <p:nvSpPr>
          <p:cNvPr id="9" name="Shape 7"/>
          <p:cNvSpPr/>
          <p:nvPr/>
        </p:nvSpPr>
        <p:spPr>
          <a:xfrm>
            <a:off x="8869680" y="365760"/>
            <a:ext cx="45720" cy="45720"/>
          </a:xfrm>
          <a:prstGeom prst="ellipse">
            <a:avLst/>
          </a:prstGeom>
          <a:solidFill>
            <a:srgbClr val="FFFFFF">
              <a:alpha val="12000"/>
            </a:srgbClr>
          </a:solidFill>
          <a:ln w="12700">
            <a:solidFill>
              <a:srgbClr val="FFFFFF">
                <a:alpha val="12000"/>
              </a:srgbClr>
            </a:solidFill>
            <a:prstDash val="solid"/>
          </a:ln>
        </p:spPr>
      </p:sp>
      <p:sp>
        <p:nvSpPr>
          <p:cNvPr id="10" name="Shape 8"/>
          <p:cNvSpPr/>
          <p:nvPr/>
        </p:nvSpPr>
        <p:spPr>
          <a:xfrm>
            <a:off x="548640" y="1554480"/>
            <a:ext cx="45720" cy="45720"/>
          </a:xfrm>
          <a:prstGeom prst="ellipse">
            <a:avLst/>
          </a:prstGeom>
          <a:solidFill>
            <a:srgbClr val="FFFFFF">
              <a:alpha val="12000"/>
            </a:srgbClr>
          </a:solidFill>
          <a:ln w="12700">
            <a:solidFill>
              <a:srgbClr val="FFFFFF">
                <a:alpha val="12000"/>
              </a:srgbClr>
            </a:solidFill>
            <a:prstDash val="solid"/>
          </a:ln>
        </p:spPr>
      </p:sp>
      <p:sp>
        <p:nvSpPr>
          <p:cNvPr id="11" name="Shape 9"/>
          <p:cNvSpPr/>
          <p:nvPr/>
        </p:nvSpPr>
        <p:spPr>
          <a:xfrm>
            <a:off x="1737360" y="1554480"/>
            <a:ext cx="45720" cy="45720"/>
          </a:xfrm>
          <a:prstGeom prst="ellipse">
            <a:avLst/>
          </a:prstGeom>
          <a:solidFill>
            <a:srgbClr val="FFFFFF">
              <a:alpha val="12000"/>
            </a:srgbClr>
          </a:solidFill>
          <a:ln w="12700">
            <a:solidFill>
              <a:srgbClr val="FFFFFF">
                <a:alpha val="12000"/>
              </a:srgbClr>
            </a:solidFill>
            <a:prstDash val="solid"/>
          </a:ln>
        </p:spPr>
      </p:sp>
      <p:sp>
        <p:nvSpPr>
          <p:cNvPr id="12" name="Shape 10"/>
          <p:cNvSpPr/>
          <p:nvPr/>
        </p:nvSpPr>
        <p:spPr>
          <a:xfrm>
            <a:off x="2926080" y="1554480"/>
            <a:ext cx="45720" cy="45720"/>
          </a:xfrm>
          <a:prstGeom prst="ellipse">
            <a:avLst/>
          </a:prstGeom>
          <a:solidFill>
            <a:srgbClr val="FFFFFF">
              <a:alpha val="12000"/>
            </a:srgbClr>
          </a:solidFill>
          <a:ln w="12700">
            <a:solidFill>
              <a:srgbClr val="FFFFFF">
                <a:alpha val="12000"/>
              </a:srgbClr>
            </a:solidFill>
            <a:prstDash val="solid"/>
          </a:ln>
        </p:spPr>
      </p:sp>
      <p:sp>
        <p:nvSpPr>
          <p:cNvPr id="13" name="Shape 11"/>
          <p:cNvSpPr/>
          <p:nvPr/>
        </p:nvSpPr>
        <p:spPr>
          <a:xfrm>
            <a:off x="4114800" y="1554480"/>
            <a:ext cx="45720" cy="45720"/>
          </a:xfrm>
          <a:prstGeom prst="ellipse">
            <a:avLst/>
          </a:prstGeom>
          <a:solidFill>
            <a:srgbClr val="FFFFFF">
              <a:alpha val="12000"/>
            </a:srgbClr>
          </a:solidFill>
          <a:ln w="12700">
            <a:solidFill>
              <a:srgbClr val="FFFFFF">
                <a:alpha val="12000"/>
              </a:srgbClr>
            </a:solidFill>
            <a:prstDash val="solid"/>
          </a:ln>
        </p:spPr>
      </p:sp>
      <p:sp>
        <p:nvSpPr>
          <p:cNvPr id="14" name="Shape 12"/>
          <p:cNvSpPr/>
          <p:nvPr/>
        </p:nvSpPr>
        <p:spPr>
          <a:xfrm>
            <a:off x="5303520" y="1554480"/>
            <a:ext cx="45720" cy="45720"/>
          </a:xfrm>
          <a:prstGeom prst="ellipse">
            <a:avLst/>
          </a:prstGeom>
          <a:solidFill>
            <a:srgbClr val="FFFFFF">
              <a:alpha val="12000"/>
            </a:srgbClr>
          </a:solidFill>
          <a:ln w="12700">
            <a:solidFill>
              <a:srgbClr val="FFFFFF">
                <a:alpha val="12000"/>
              </a:srgbClr>
            </a:solidFill>
            <a:prstDash val="solid"/>
          </a:ln>
        </p:spPr>
      </p:sp>
      <p:sp>
        <p:nvSpPr>
          <p:cNvPr id="15" name="Shape 13"/>
          <p:cNvSpPr/>
          <p:nvPr/>
        </p:nvSpPr>
        <p:spPr>
          <a:xfrm>
            <a:off x="6492240" y="1554480"/>
            <a:ext cx="45720" cy="45720"/>
          </a:xfrm>
          <a:prstGeom prst="ellipse">
            <a:avLst/>
          </a:prstGeom>
          <a:solidFill>
            <a:srgbClr val="FFFFFF">
              <a:alpha val="12000"/>
            </a:srgbClr>
          </a:solidFill>
          <a:ln w="12700">
            <a:solidFill>
              <a:srgbClr val="FFFFFF">
                <a:alpha val="12000"/>
              </a:srgbClr>
            </a:solidFill>
            <a:prstDash val="solid"/>
          </a:ln>
        </p:spPr>
      </p:sp>
      <p:sp>
        <p:nvSpPr>
          <p:cNvPr id="16" name="Shape 14"/>
          <p:cNvSpPr/>
          <p:nvPr/>
        </p:nvSpPr>
        <p:spPr>
          <a:xfrm>
            <a:off x="7680960" y="1554480"/>
            <a:ext cx="45720" cy="45720"/>
          </a:xfrm>
          <a:prstGeom prst="ellipse">
            <a:avLst/>
          </a:prstGeom>
          <a:solidFill>
            <a:srgbClr val="FFFFFF">
              <a:alpha val="12000"/>
            </a:srgbClr>
          </a:solidFill>
          <a:ln w="12700">
            <a:solidFill>
              <a:srgbClr val="FFFFFF">
                <a:alpha val="12000"/>
              </a:srgbClr>
            </a:solidFill>
            <a:prstDash val="solid"/>
          </a:ln>
        </p:spPr>
      </p:sp>
      <p:sp>
        <p:nvSpPr>
          <p:cNvPr id="17" name="Shape 15"/>
          <p:cNvSpPr/>
          <p:nvPr/>
        </p:nvSpPr>
        <p:spPr>
          <a:xfrm>
            <a:off x="8869680" y="1554480"/>
            <a:ext cx="45720" cy="45720"/>
          </a:xfrm>
          <a:prstGeom prst="ellipse">
            <a:avLst/>
          </a:prstGeom>
          <a:solidFill>
            <a:srgbClr val="FFFFFF">
              <a:alpha val="12000"/>
            </a:srgbClr>
          </a:solidFill>
          <a:ln w="12700">
            <a:solidFill>
              <a:srgbClr val="FFFFFF">
                <a:alpha val="12000"/>
              </a:srgbClr>
            </a:solidFill>
            <a:prstDash val="solid"/>
          </a:ln>
        </p:spPr>
      </p:sp>
      <p:sp>
        <p:nvSpPr>
          <p:cNvPr id="18" name="Shape 16"/>
          <p:cNvSpPr/>
          <p:nvPr/>
        </p:nvSpPr>
        <p:spPr>
          <a:xfrm>
            <a:off x="548640" y="2743200"/>
            <a:ext cx="45720" cy="45720"/>
          </a:xfrm>
          <a:prstGeom prst="ellipse">
            <a:avLst/>
          </a:prstGeom>
          <a:solidFill>
            <a:srgbClr val="FFFFFF">
              <a:alpha val="12000"/>
            </a:srgbClr>
          </a:solidFill>
          <a:ln w="12700">
            <a:solidFill>
              <a:srgbClr val="FFFFFF">
                <a:alpha val="12000"/>
              </a:srgbClr>
            </a:solidFill>
            <a:prstDash val="solid"/>
          </a:ln>
        </p:spPr>
      </p:sp>
      <p:sp>
        <p:nvSpPr>
          <p:cNvPr id="19" name="Shape 17"/>
          <p:cNvSpPr/>
          <p:nvPr/>
        </p:nvSpPr>
        <p:spPr>
          <a:xfrm>
            <a:off x="1737360" y="2743200"/>
            <a:ext cx="45720" cy="45720"/>
          </a:xfrm>
          <a:prstGeom prst="ellipse">
            <a:avLst/>
          </a:prstGeom>
          <a:solidFill>
            <a:srgbClr val="FFFFFF">
              <a:alpha val="12000"/>
            </a:srgbClr>
          </a:solidFill>
          <a:ln w="12700">
            <a:solidFill>
              <a:srgbClr val="FFFFFF">
                <a:alpha val="12000"/>
              </a:srgbClr>
            </a:solidFill>
            <a:prstDash val="solid"/>
          </a:ln>
        </p:spPr>
      </p:sp>
      <p:sp>
        <p:nvSpPr>
          <p:cNvPr id="20" name="Shape 18"/>
          <p:cNvSpPr/>
          <p:nvPr/>
        </p:nvSpPr>
        <p:spPr>
          <a:xfrm>
            <a:off x="2926080" y="2743200"/>
            <a:ext cx="45720" cy="45720"/>
          </a:xfrm>
          <a:prstGeom prst="ellipse">
            <a:avLst/>
          </a:prstGeom>
          <a:solidFill>
            <a:srgbClr val="FFFFFF">
              <a:alpha val="12000"/>
            </a:srgbClr>
          </a:solidFill>
          <a:ln w="12700">
            <a:solidFill>
              <a:srgbClr val="FFFFFF">
                <a:alpha val="12000"/>
              </a:srgbClr>
            </a:solidFill>
            <a:prstDash val="solid"/>
          </a:ln>
        </p:spPr>
      </p:sp>
      <p:sp>
        <p:nvSpPr>
          <p:cNvPr id="21" name="Shape 19"/>
          <p:cNvSpPr/>
          <p:nvPr/>
        </p:nvSpPr>
        <p:spPr>
          <a:xfrm>
            <a:off x="4114800" y="2743200"/>
            <a:ext cx="45720" cy="45720"/>
          </a:xfrm>
          <a:prstGeom prst="ellipse">
            <a:avLst/>
          </a:prstGeom>
          <a:solidFill>
            <a:srgbClr val="FFFFFF">
              <a:alpha val="12000"/>
            </a:srgbClr>
          </a:solidFill>
          <a:ln w="12700">
            <a:solidFill>
              <a:srgbClr val="FFFFFF">
                <a:alpha val="12000"/>
              </a:srgbClr>
            </a:solidFill>
            <a:prstDash val="solid"/>
          </a:ln>
        </p:spPr>
      </p:sp>
      <p:sp>
        <p:nvSpPr>
          <p:cNvPr id="22" name="Shape 20"/>
          <p:cNvSpPr/>
          <p:nvPr/>
        </p:nvSpPr>
        <p:spPr>
          <a:xfrm>
            <a:off x="5303520" y="2743200"/>
            <a:ext cx="45720" cy="45720"/>
          </a:xfrm>
          <a:prstGeom prst="ellipse">
            <a:avLst/>
          </a:prstGeom>
          <a:solidFill>
            <a:srgbClr val="FFFFFF">
              <a:alpha val="12000"/>
            </a:srgbClr>
          </a:solidFill>
          <a:ln w="12700">
            <a:solidFill>
              <a:srgbClr val="FFFFFF">
                <a:alpha val="12000"/>
              </a:srgbClr>
            </a:solidFill>
            <a:prstDash val="solid"/>
          </a:ln>
        </p:spPr>
      </p:sp>
      <p:sp>
        <p:nvSpPr>
          <p:cNvPr id="23" name="Shape 21"/>
          <p:cNvSpPr/>
          <p:nvPr/>
        </p:nvSpPr>
        <p:spPr>
          <a:xfrm>
            <a:off x="6492240" y="2743200"/>
            <a:ext cx="45720" cy="45720"/>
          </a:xfrm>
          <a:prstGeom prst="ellipse">
            <a:avLst/>
          </a:prstGeom>
          <a:solidFill>
            <a:srgbClr val="FFFFFF">
              <a:alpha val="12000"/>
            </a:srgbClr>
          </a:solidFill>
          <a:ln w="12700">
            <a:solidFill>
              <a:srgbClr val="FFFFFF">
                <a:alpha val="12000"/>
              </a:srgbClr>
            </a:solidFill>
            <a:prstDash val="solid"/>
          </a:ln>
        </p:spPr>
      </p:sp>
      <p:sp>
        <p:nvSpPr>
          <p:cNvPr id="24" name="Shape 22"/>
          <p:cNvSpPr/>
          <p:nvPr/>
        </p:nvSpPr>
        <p:spPr>
          <a:xfrm>
            <a:off x="7680960" y="2743200"/>
            <a:ext cx="45720" cy="45720"/>
          </a:xfrm>
          <a:prstGeom prst="ellipse">
            <a:avLst/>
          </a:prstGeom>
          <a:solidFill>
            <a:srgbClr val="FFFFFF">
              <a:alpha val="12000"/>
            </a:srgbClr>
          </a:solidFill>
          <a:ln w="12700">
            <a:solidFill>
              <a:srgbClr val="FFFFFF">
                <a:alpha val="12000"/>
              </a:srgbClr>
            </a:solidFill>
            <a:prstDash val="solid"/>
          </a:ln>
        </p:spPr>
      </p:sp>
      <p:sp>
        <p:nvSpPr>
          <p:cNvPr id="25" name="Shape 23"/>
          <p:cNvSpPr/>
          <p:nvPr/>
        </p:nvSpPr>
        <p:spPr>
          <a:xfrm>
            <a:off x="8869680" y="2743200"/>
            <a:ext cx="45720" cy="45720"/>
          </a:xfrm>
          <a:prstGeom prst="ellipse">
            <a:avLst/>
          </a:prstGeom>
          <a:solidFill>
            <a:srgbClr val="FFFFFF">
              <a:alpha val="12000"/>
            </a:srgbClr>
          </a:solidFill>
          <a:ln w="12700">
            <a:solidFill>
              <a:srgbClr val="FFFFFF">
                <a:alpha val="12000"/>
              </a:srgbClr>
            </a:solidFill>
            <a:prstDash val="solid"/>
          </a:ln>
        </p:spPr>
      </p:sp>
      <p:sp>
        <p:nvSpPr>
          <p:cNvPr id="26" name="Shape 24"/>
          <p:cNvSpPr/>
          <p:nvPr/>
        </p:nvSpPr>
        <p:spPr>
          <a:xfrm>
            <a:off x="548640" y="3931920"/>
            <a:ext cx="45720" cy="45720"/>
          </a:xfrm>
          <a:prstGeom prst="ellipse">
            <a:avLst/>
          </a:prstGeom>
          <a:solidFill>
            <a:srgbClr val="FFFFFF">
              <a:alpha val="12000"/>
            </a:srgbClr>
          </a:solidFill>
          <a:ln w="12700">
            <a:solidFill>
              <a:srgbClr val="FFFFFF">
                <a:alpha val="12000"/>
              </a:srgbClr>
            </a:solidFill>
            <a:prstDash val="solid"/>
          </a:ln>
        </p:spPr>
      </p:sp>
      <p:sp>
        <p:nvSpPr>
          <p:cNvPr id="27" name="Shape 25"/>
          <p:cNvSpPr/>
          <p:nvPr/>
        </p:nvSpPr>
        <p:spPr>
          <a:xfrm>
            <a:off x="1737360" y="3931920"/>
            <a:ext cx="45720" cy="45720"/>
          </a:xfrm>
          <a:prstGeom prst="ellipse">
            <a:avLst/>
          </a:prstGeom>
          <a:solidFill>
            <a:srgbClr val="FFFFFF">
              <a:alpha val="12000"/>
            </a:srgbClr>
          </a:solidFill>
          <a:ln w="12700">
            <a:solidFill>
              <a:srgbClr val="FFFFFF">
                <a:alpha val="12000"/>
              </a:srgbClr>
            </a:solidFill>
            <a:prstDash val="solid"/>
          </a:ln>
        </p:spPr>
      </p:sp>
      <p:sp>
        <p:nvSpPr>
          <p:cNvPr id="28" name="Shape 26"/>
          <p:cNvSpPr/>
          <p:nvPr/>
        </p:nvSpPr>
        <p:spPr>
          <a:xfrm>
            <a:off x="2926080" y="3931920"/>
            <a:ext cx="45720" cy="45720"/>
          </a:xfrm>
          <a:prstGeom prst="ellipse">
            <a:avLst/>
          </a:prstGeom>
          <a:solidFill>
            <a:srgbClr val="FFFFFF">
              <a:alpha val="12000"/>
            </a:srgbClr>
          </a:solidFill>
          <a:ln w="12700">
            <a:solidFill>
              <a:srgbClr val="FFFFFF">
                <a:alpha val="12000"/>
              </a:srgbClr>
            </a:solidFill>
            <a:prstDash val="solid"/>
          </a:ln>
        </p:spPr>
      </p:sp>
      <p:sp>
        <p:nvSpPr>
          <p:cNvPr id="29" name="Shape 27"/>
          <p:cNvSpPr/>
          <p:nvPr/>
        </p:nvSpPr>
        <p:spPr>
          <a:xfrm>
            <a:off x="4114800" y="3931920"/>
            <a:ext cx="45720" cy="45720"/>
          </a:xfrm>
          <a:prstGeom prst="ellipse">
            <a:avLst/>
          </a:prstGeom>
          <a:solidFill>
            <a:srgbClr val="FFFFFF">
              <a:alpha val="12000"/>
            </a:srgbClr>
          </a:solidFill>
          <a:ln w="12700">
            <a:solidFill>
              <a:srgbClr val="FFFFFF">
                <a:alpha val="12000"/>
              </a:srgbClr>
            </a:solidFill>
            <a:prstDash val="solid"/>
          </a:ln>
        </p:spPr>
      </p:sp>
      <p:sp>
        <p:nvSpPr>
          <p:cNvPr id="30" name="Shape 28"/>
          <p:cNvSpPr/>
          <p:nvPr/>
        </p:nvSpPr>
        <p:spPr>
          <a:xfrm>
            <a:off x="5303520" y="3931920"/>
            <a:ext cx="45720" cy="45720"/>
          </a:xfrm>
          <a:prstGeom prst="ellipse">
            <a:avLst/>
          </a:prstGeom>
          <a:solidFill>
            <a:srgbClr val="FFFFFF">
              <a:alpha val="12000"/>
            </a:srgbClr>
          </a:solidFill>
          <a:ln w="12700">
            <a:solidFill>
              <a:srgbClr val="FFFFFF">
                <a:alpha val="12000"/>
              </a:srgbClr>
            </a:solidFill>
            <a:prstDash val="solid"/>
          </a:ln>
        </p:spPr>
      </p:sp>
      <p:sp>
        <p:nvSpPr>
          <p:cNvPr id="31" name="Shape 29"/>
          <p:cNvSpPr/>
          <p:nvPr/>
        </p:nvSpPr>
        <p:spPr>
          <a:xfrm>
            <a:off x="6492240" y="3931920"/>
            <a:ext cx="45720" cy="45720"/>
          </a:xfrm>
          <a:prstGeom prst="ellipse">
            <a:avLst/>
          </a:prstGeom>
          <a:solidFill>
            <a:srgbClr val="FFFFFF">
              <a:alpha val="12000"/>
            </a:srgbClr>
          </a:solidFill>
          <a:ln w="12700">
            <a:solidFill>
              <a:srgbClr val="FFFFFF">
                <a:alpha val="12000"/>
              </a:srgbClr>
            </a:solidFill>
            <a:prstDash val="solid"/>
          </a:ln>
        </p:spPr>
      </p:sp>
      <p:sp>
        <p:nvSpPr>
          <p:cNvPr id="32" name="Shape 30"/>
          <p:cNvSpPr/>
          <p:nvPr/>
        </p:nvSpPr>
        <p:spPr>
          <a:xfrm>
            <a:off x="7680960" y="3931920"/>
            <a:ext cx="45720" cy="45720"/>
          </a:xfrm>
          <a:prstGeom prst="ellipse">
            <a:avLst/>
          </a:prstGeom>
          <a:solidFill>
            <a:srgbClr val="FFFFFF">
              <a:alpha val="12000"/>
            </a:srgbClr>
          </a:solidFill>
          <a:ln w="12700">
            <a:solidFill>
              <a:srgbClr val="FFFFFF">
                <a:alpha val="12000"/>
              </a:srgbClr>
            </a:solidFill>
            <a:prstDash val="solid"/>
          </a:ln>
        </p:spPr>
      </p:sp>
      <p:sp>
        <p:nvSpPr>
          <p:cNvPr id="33" name="Shape 31"/>
          <p:cNvSpPr/>
          <p:nvPr/>
        </p:nvSpPr>
        <p:spPr>
          <a:xfrm>
            <a:off x="8869680" y="3931920"/>
            <a:ext cx="45720" cy="45720"/>
          </a:xfrm>
          <a:prstGeom prst="ellipse">
            <a:avLst/>
          </a:prstGeom>
          <a:solidFill>
            <a:srgbClr val="FFFFFF">
              <a:alpha val="12000"/>
            </a:srgbClr>
          </a:solidFill>
          <a:ln w="12700">
            <a:solidFill>
              <a:srgbClr val="FFFFFF">
                <a:alpha val="12000"/>
              </a:srgbClr>
            </a:solidFill>
            <a:prstDash val="solid"/>
          </a:ln>
        </p:spPr>
      </p:sp>
      <p:sp>
        <p:nvSpPr>
          <p:cNvPr id="34" name="Text 32"/>
          <p:cNvSpPr/>
          <p:nvPr/>
        </p:nvSpPr>
        <p:spPr>
          <a:xfrm>
            <a:off x="502920" y="548640"/>
            <a:ext cx="8229600" cy="1097280"/>
          </a:xfrm>
          <a:prstGeom prst="rect">
            <a:avLst/>
          </a:prstGeom>
          <a:noFill/>
          <a:ln/>
        </p:spPr>
        <p:txBody>
          <a:bodyPr wrap="square" lIns="0" tIns="0" rIns="0" bIns="0" rtlCol="0" anchor="ctr"/>
          <a:lstStyle/>
          <a:p>
            <a:pPr algn="l" indent="0" marL="0">
              <a:buNone/>
            </a:pPr>
            <a:r>
              <a:rPr lang="en-US" sz="6800" b="1" dirty="0">
                <a:solidFill>
                  <a:srgbClr val="FFFFFF"/>
                </a:solidFill>
                <a:latin typeface="Georgia" pitchFamily="34" charset="0"/>
                <a:ea typeface="Georgia" pitchFamily="34" charset="-122"/>
                <a:cs typeface="Georgia" pitchFamily="34" charset="-120"/>
              </a:rPr>
              <a:t>Every marketer</a:t>
            </a:r>
            <a:endParaRPr lang="en-US" sz="6800" dirty="0"/>
          </a:p>
        </p:txBody>
      </p:sp>
      <p:sp>
        <p:nvSpPr>
          <p:cNvPr id="35" name="Text 33"/>
          <p:cNvSpPr/>
          <p:nvPr/>
        </p:nvSpPr>
        <p:spPr>
          <a:xfrm>
            <a:off x="502920" y="1554480"/>
            <a:ext cx="8229600" cy="1097280"/>
          </a:xfrm>
          <a:prstGeom prst="rect">
            <a:avLst/>
          </a:prstGeom>
          <a:noFill/>
          <a:ln/>
        </p:spPr>
        <p:txBody>
          <a:bodyPr wrap="square" lIns="0" tIns="0" rIns="0" bIns="0" rtlCol="0" anchor="ctr"/>
          <a:lstStyle/>
          <a:p>
            <a:pPr algn="l" indent="0" marL="0">
              <a:buNone/>
            </a:pPr>
            <a:r>
              <a:rPr lang="en-US" sz="6800" b="1" dirty="0">
                <a:solidFill>
                  <a:srgbClr val="F5A623"/>
                </a:solidFill>
                <a:latin typeface="Georgia" pitchFamily="34" charset="0"/>
                <a:ea typeface="Georgia" pitchFamily="34" charset="-122"/>
                <a:cs typeface="Georgia" pitchFamily="34" charset="-120"/>
              </a:rPr>
              <a:t>is guessing.</a:t>
            </a:r>
            <a:endParaRPr lang="en-US" sz="6800" dirty="0"/>
          </a:p>
        </p:txBody>
      </p:sp>
      <p:sp>
        <p:nvSpPr>
          <p:cNvPr id="36" name="Shape 34"/>
          <p:cNvSpPr/>
          <p:nvPr/>
        </p:nvSpPr>
        <p:spPr>
          <a:xfrm>
            <a:off x="502920" y="2788920"/>
            <a:ext cx="1280160" cy="54864"/>
          </a:xfrm>
          <a:prstGeom prst="rect">
            <a:avLst/>
          </a:prstGeom>
          <a:solidFill>
            <a:srgbClr val="0D9488"/>
          </a:solidFill>
          <a:ln w="12700">
            <a:solidFill>
              <a:srgbClr val="0D9488"/>
            </a:solidFill>
            <a:prstDash val="solid"/>
          </a:ln>
        </p:spPr>
      </p:sp>
      <p:sp>
        <p:nvSpPr>
          <p:cNvPr id="37" name="Text 35"/>
          <p:cNvSpPr/>
          <p:nvPr/>
        </p:nvSpPr>
        <p:spPr>
          <a:xfrm>
            <a:off x="502920" y="2971800"/>
            <a:ext cx="6858000" cy="502920"/>
          </a:xfrm>
          <a:prstGeom prst="rect">
            <a:avLst/>
          </a:prstGeom>
          <a:noFill/>
          <a:ln/>
        </p:spPr>
        <p:txBody>
          <a:bodyPr wrap="square" lIns="0" tIns="0" rIns="0" bIns="0" rtlCol="0" anchor="ctr"/>
          <a:lstStyle/>
          <a:p>
            <a:pPr algn="l" indent="0" marL="0">
              <a:buNone/>
            </a:pPr>
            <a:r>
              <a:rPr lang="en-US" sz="2000" i="1" dirty="0">
                <a:solidFill>
                  <a:srgbClr val="6ECDC4"/>
                </a:solidFill>
              </a:rPr>
              <a:t>This project is about changing that.</a:t>
            </a:r>
            <a:endParaRPr lang="en-US" sz="2000" dirty="0"/>
          </a:p>
        </p:txBody>
      </p:sp>
      <p:sp>
        <p:nvSpPr>
          <p:cNvPr id="38" name="Text 36"/>
          <p:cNvSpPr/>
          <p:nvPr/>
        </p:nvSpPr>
        <p:spPr>
          <a:xfrm>
            <a:off x="502920" y="4663440"/>
            <a:ext cx="8229600" cy="256032"/>
          </a:xfrm>
          <a:prstGeom prst="rect">
            <a:avLst/>
          </a:prstGeom>
          <a:noFill/>
          <a:ln/>
        </p:spPr>
        <p:txBody>
          <a:bodyPr wrap="square" lIns="0" tIns="0" rIns="0" bIns="0" rtlCol="0" anchor="ctr"/>
          <a:lstStyle/>
          <a:p>
            <a:pPr algn="l" indent="0" marL="0">
              <a:buNone/>
            </a:pPr>
            <a:r>
              <a:rPr lang="en-US" sz="900" dirty="0">
                <a:solidFill>
                  <a:srgbClr val="8898A8"/>
                </a:solidFill>
              </a:rPr>
              <a:t>Komal Shahid  ·  Bellevue University MSDS  ·  DSC680 Project 2  ·  May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F5A623"/>
                </a:solidFill>
              </a:rPr>
              <a:t>THE SPARK</a:t>
            </a:r>
            <a:endParaRPr lang="en-US" sz="950" dirty="0"/>
          </a:p>
        </p:txBody>
      </p:sp>
      <p:sp>
        <p:nvSpPr>
          <p:cNvPr id="3" name="Text 1"/>
          <p:cNvSpPr/>
          <p:nvPr/>
        </p:nvSpPr>
        <p:spPr>
          <a:xfrm>
            <a:off x="502920" y="502920"/>
            <a:ext cx="5029200" cy="1645920"/>
          </a:xfrm>
          <a:prstGeom prst="rect">
            <a:avLst/>
          </a:prstGeom>
          <a:noFill/>
          <a:ln/>
        </p:spPr>
        <p:txBody>
          <a:bodyPr wrap="square" lIns="0" tIns="0" rIns="0" bIns="0" rtlCol="0" anchor="ctr"/>
          <a:lstStyle/>
          <a:p>
            <a:pPr algn="l" indent="0" marL="0">
              <a:buNone/>
            </a:pPr>
            <a:r>
              <a:rPr lang="en-US" sz="4800" b="1" dirty="0">
                <a:solidFill>
                  <a:srgbClr val="FFFFFF"/>
                </a:solidFill>
                <a:latin typeface="Georgia" pitchFamily="34" charset="0"/>
                <a:ea typeface="Georgia" pitchFamily="34" charset="-122"/>
                <a:cs typeface="Georgia" pitchFamily="34" charset="-120"/>
              </a:rPr>
              <a:t>It started with</a:t>
            </a:r>
            <a:endParaRPr lang="en-US" sz="4800" dirty="0"/>
          </a:p>
          <a:p>
            <a:pPr algn="l" indent="0" marL="0">
              <a:buNone/>
            </a:pPr>
            <a:r>
              <a:rPr lang="en-US" sz="4800" b="1" dirty="0">
                <a:solidFill>
                  <a:srgbClr val="FFFFFF"/>
                </a:solidFill>
                <a:latin typeface="Georgia" pitchFamily="34" charset="0"/>
                <a:ea typeface="Georgia" pitchFamily="34" charset="-122"/>
                <a:cs typeface="Georgia" pitchFamily="34" charset="-120"/>
              </a:rPr>
              <a:t>one question.</a:t>
            </a:r>
            <a:endParaRPr lang="en-US" sz="4800" dirty="0"/>
          </a:p>
        </p:txBody>
      </p:sp>
      <p:sp>
        <p:nvSpPr>
          <p:cNvPr id="4" name="Text 2"/>
          <p:cNvSpPr/>
          <p:nvPr/>
        </p:nvSpPr>
        <p:spPr>
          <a:xfrm>
            <a:off x="502920" y="2286000"/>
            <a:ext cx="5029200" cy="1005840"/>
          </a:xfrm>
          <a:prstGeom prst="rect">
            <a:avLst/>
          </a:prstGeom>
          <a:noFill/>
          <a:ln/>
        </p:spPr>
        <p:txBody>
          <a:bodyPr wrap="square" lIns="0" tIns="0" rIns="0" bIns="0" rtlCol="0" anchor="ctr"/>
          <a:lstStyle/>
          <a:p>
            <a:pPr algn="l" indent="0" marL="0">
              <a:buNone/>
            </a:pPr>
            <a:r>
              <a:rPr lang="en-US" sz="2000" i="1" dirty="0">
                <a:solidFill>
                  <a:srgbClr val="F5A623"/>
                </a:solidFill>
              </a:rPr>
              <a:t>"Can data tell us what to write</a:t>
            </a:r>
            <a:endParaRPr lang="en-US" sz="2000" dirty="0"/>
          </a:p>
          <a:p>
            <a:pPr algn="l" indent="0" marL="0">
              <a:buNone/>
            </a:pPr>
            <a:r>
              <a:rPr lang="en-US" sz="2000" i="1" dirty="0">
                <a:solidFill>
                  <a:srgbClr val="F5A623"/>
                </a:solidFill>
              </a:rPr>
              <a:t>before we write it?"</a:t>
            </a:r>
            <a:endParaRPr lang="en-US" sz="2000" dirty="0"/>
          </a:p>
        </p:txBody>
      </p:sp>
      <p:sp>
        <p:nvSpPr>
          <p:cNvPr id="5" name="Text 3"/>
          <p:cNvSpPr/>
          <p:nvPr/>
        </p:nvSpPr>
        <p:spPr>
          <a:xfrm>
            <a:off x="502920" y="3429000"/>
            <a:ext cx="4846320" cy="685800"/>
          </a:xfrm>
          <a:prstGeom prst="rect">
            <a:avLst/>
          </a:prstGeom>
          <a:noFill/>
          <a:ln/>
        </p:spPr>
        <p:txBody>
          <a:bodyPr wrap="square" lIns="0" tIns="0" rIns="0" bIns="0" rtlCol="0" anchor="ctr"/>
          <a:lstStyle/>
          <a:p>
            <a:pPr algn="l" indent="0" marL="0">
              <a:buNone/>
            </a:pPr>
            <a:r>
              <a:rPr lang="en-US" sz="1300" dirty="0">
                <a:solidFill>
                  <a:srgbClr val="6ECDC4"/>
                </a:solidFill>
              </a:rPr>
              <a:t>Most content tools can generate text.</a:t>
            </a:r>
            <a:endParaRPr lang="en-US" sz="1300" dirty="0"/>
          </a:p>
          <a:p>
            <a:pPr algn="l" indent="0" marL="0">
              <a:buNone/>
            </a:pPr>
            <a:r>
              <a:rPr lang="en-US" sz="1300" dirty="0">
                <a:solidFill>
                  <a:srgbClr val="6ECDC4"/>
                </a:solidFill>
              </a:rPr>
              <a:t>None of them tell you what to generate.</a:t>
            </a:r>
            <a:endParaRPr lang="en-US" sz="1300" dirty="0"/>
          </a:p>
        </p:txBody>
      </p:sp>
      <p:sp>
        <p:nvSpPr>
          <p:cNvPr id="6" name="Shape 4"/>
          <p:cNvSpPr/>
          <p:nvPr/>
        </p:nvSpPr>
        <p:spPr>
          <a:xfrm>
            <a:off x="5669280" y="777240"/>
            <a:ext cx="3017520" cy="1143000"/>
          </a:xfrm>
          <a:prstGeom prst="rect">
            <a:avLst/>
          </a:prstGeom>
          <a:solidFill>
            <a:srgbClr val="FFFFFF">
              <a:alpha val="8000"/>
            </a:srgbClr>
          </a:solidFill>
          <a:ln/>
        </p:spPr>
      </p:sp>
      <p:sp>
        <p:nvSpPr>
          <p:cNvPr id="7" name="Shape 5"/>
          <p:cNvSpPr/>
          <p:nvPr/>
        </p:nvSpPr>
        <p:spPr>
          <a:xfrm>
            <a:off x="5669280" y="777240"/>
            <a:ext cx="64008" cy="1143000"/>
          </a:xfrm>
          <a:prstGeom prst="rect">
            <a:avLst/>
          </a:prstGeom>
          <a:solidFill>
            <a:srgbClr val="E8472D"/>
          </a:solidFill>
          <a:ln w="12700">
            <a:solidFill>
              <a:srgbClr val="E8472D"/>
            </a:solidFill>
            <a:prstDash val="solid"/>
          </a:ln>
        </p:spPr>
      </p:sp>
      <p:sp>
        <p:nvSpPr>
          <p:cNvPr id="8" name="Text 6"/>
          <p:cNvSpPr/>
          <p:nvPr/>
        </p:nvSpPr>
        <p:spPr>
          <a:xfrm>
            <a:off x="5824728" y="850392"/>
            <a:ext cx="2743200" cy="320040"/>
          </a:xfrm>
          <a:prstGeom prst="rect">
            <a:avLst/>
          </a:prstGeom>
          <a:noFill/>
          <a:ln/>
        </p:spPr>
        <p:txBody>
          <a:bodyPr wrap="square" lIns="0" tIns="0" rIns="0" bIns="0" rtlCol="0" anchor="ctr"/>
          <a:lstStyle/>
          <a:p>
            <a:pPr algn="l" indent="0" marL="0">
              <a:buNone/>
            </a:pPr>
            <a:r>
              <a:rPr lang="en-US" sz="1400" b="1" dirty="0">
                <a:solidFill>
                  <a:srgbClr val="FFFFFF"/>
                </a:solidFill>
              </a:rPr>
              <a:t>Observed</a:t>
            </a:r>
            <a:endParaRPr lang="en-US" sz="1400" dirty="0"/>
          </a:p>
        </p:txBody>
      </p:sp>
      <p:sp>
        <p:nvSpPr>
          <p:cNvPr id="9" name="Text 7"/>
          <p:cNvSpPr/>
          <p:nvPr/>
        </p:nvSpPr>
        <p:spPr>
          <a:xfrm>
            <a:off x="5824728" y="1188720"/>
            <a:ext cx="2743200" cy="594360"/>
          </a:xfrm>
          <a:prstGeom prst="rect">
            <a:avLst/>
          </a:prstGeom>
          <a:noFill/>
          <a:ln/>
        </p:spPr>
        <p:txBody>
          <a:bodyPr wrap="square" lIns="0" tIns="0" rIns="0" bIns="0" rtlCol="0" anchor="ctr"/>
          <a:lstStyle/>
          <a:p>
            <a:pPr algn="l" indent="0" marL="0">
              <a:buNone/>
            </a:pPr>
            <a:r>
              <a:rPr lang="en-US" sz="1100" dirty="0">
                <a:solidFill>
                  <a:srgbClr val="6ECDC4"/>
                </a:solidFill>
              </a:rPr>
              <a:t>Marketers spending</a:t>
            </a:r>
            <a:endParaRPr lang="en-US" sz="1100" dirty="0"/>
          </a:p>
          <a:p>
            <a:pPr algn="l" indent="0" marL="0">
              <a:buNone/>
            </a:pPr>
            <a:r>
              <a:rPr lang="en-US" sz="1100" dirty="0">
                <a:solidFill>
                  <a:srgbClr val="6ECDC4"/>
                </a:solidFill>
              </a:rPr>
              <a:t>hours guessing topics</a:t>
            </a:r>
            <a:endParaRPr lang="en-US" sz="1100" dirty="0"/>
          </a:p>
        </p:txBody>
      </p:sp>
      <p:sp>
        <p:nvSpPr>
          <p:cNvPr id="10" name="Text 8"/>
          <p:cNvSpPr/>
          <p:nvPr/>
        </p:nvSpPr>
        <p:spPr>
          <a:xfrm>
            <a:off x="6995160" y="1947672"/>
            <a:ext cx="365760" cy="164592"/>
          </a:xfrm>
          <a:prstGeom prst="rect">
            <a:avLst/>
          </a:prstGeom>
          <a:noFill/>
          <a:ln/>
        </p:spPr>
        <p:txBody>
          <a:bodyPr wrap="square" lIns="0" tIns="0" rIns="0" bIns="0" rtlCol="0" anchor="ctr"/>
          <a:lstStyle/>
          <a:p>
            <a:pPr algn="ctr" indent="0" marL="0">
              <a:buNone/>
            </a:pPr>
            <a:r>
              <a:rPr lang="en-US" sz="1100" dirty="0">
                <a:solidFill>
                  <a:srgbClr val="8898A8"/>
                </a:solidFill>
              </a:rPr>
              <a:t>↓</a:t>
            </a:r>
            <a:endParaRPr lang="en-US" sz="1100" dirty="0"/>
          </a:p>
        </p:txBody>
      </p:sp>
      <p:sp>
        <p:nvSpPr>
          <p:cNvPr id="11" name="Shape 9"/>
          <p:cNvSpPr/>
          <p:nvPr/>
        </p:nvSpPr>
        <p:spPr>
          <a:xfrm>
            <a:off x="5669280" y="2103120"/>
            <a:ext cx="3017520" cy="1143000"/>
          </a:xfrm>
          <a:prstGeom prst="rect">
            <a:avLst/>
          </a:prstGeom>
          <a:solidFill>
            <a:srgbClr val="FFFFFF">
              <a:alpha val="8000"/>
            </a:srgbClr>
          </a:solidFill>
          <a:ln/>
        </p:spPr>
      </p:sp>
      <p:sp>
        <p:nvSpPr>
          <p:cNvPr id="12" name="Shape 10"/>
          <p:cNvSpPr/>
          <p:nvPr/>
        </p:nvSpPr>
        <p:spPr>
          <a:xfrm>
            <a:off x="5669280" y="2103120"/>
            <a:ext cx="64008" cy="1143000"/>
          </a:xfrm>
          <a:prstGeom prst="rect">
            <a:avLst/>
          </a:prstGeom>
          <a:solidFill>
            <a:srgbClr val="F5A623"/>
          </a:solidFill>
          <a:ln w="12700">
            <a:solidFill>
              <a:srgbClr val="F5A623"/>
            </a:solidFill>
            <a:prstDash val="solid"/>
          </a:ln>
        </p:spPr>
      </p:sp>
      <p:sp>
        <p:nvSpPr>
          <p:cNvPr id="13" name="Text 11"/>
          <p:cNvSpPr/>
          <p:nvPr/>
        </p:nvSpPr>
        <p:spPr>
          <a:xfrm>
            <a:off x="5824728" y="2176272"/>
            <a:ext cx="2743200" cy="320040"/>
          </a:xfrm>
          <a:prstGeom prst="rect">
            <a:avLst/>
          </a:prstGeom>
          <a:noFill/>
          <a:ln/>
        </p:spPr>
        <p:txBody>
          <a:bodyPr wrap="square" lIns="0" tIns="0" rIns="0" bIns="0" rtlCol="0" anchor="ctr"/>
          <a:lstStyle/>
          <a:p>
            <a:pPr algn="l" indent="0" marL="0">
              <a:buNone/>
            </a:pPr>
            <a:r>
              <a:rPr lang="en-US" sz="1400" b="1" dirty="0">
                <a:solidFill>
                  <a:srgbClr val="FFFFFF"/>
                </a:solidFill>
              </a:rPr>
              <a:t>Asked</a:t>
            </a:r>
            <a:endParaRPr lang="en-US" sz="1400" dirty="0"/>
          </a:p>
        </p:txBody>
      </p:sp>
      <p:sp>
        <p:nvSpPr>
          <p:cNvPr id="14" name="Text 12"/>
          <p:cNvSpPr/>
          <p:nvPr/>
        </p:nvSpPr>
        <p:spPr>
          <a:xfrm>
            <a:off x="5824728" y="2514600"/>
            <a:ext cx="2743200" cy="594360"/>
          </a:xfrm>
          <a:prstGeom prst="rect">
            <a:avLst/>
          </a:prstGeom>
          <a:noFill/>
          <a:ln/>
        </p:spPr>
        <p:txBody>
          <a:bodyPr wrap="square" lIns="0" tIns="0" rIns="0" bIns="0" rtlCol="0" anchor="ctr"/>
          <a:lstStyle/>
          <a:p>
            <a:pPr algn="l" indent="0" marL="0">
              <a:buNone/>
            </a:pPr>
            <a:r>
              <a:rPr lang="en-US" sz="1100" dirty="0">
                <a:solidFill>
                  <a:srgbClr val="6ECDC4"/>
                </a:solidFill>
              </a:rPr>
              <a:t>"Does the data know</a:t>
            </a:r>
            <a:endParaRPr lang="en-US" sz="1100" dirty="0"/>
          </a:p>
          <a:p>
            <a:pPr algn="l" indent="0" marL="0">
              <a:buNone/>
            </a:pPr>
            <a:r>
              <a:rPr lang="en-US" sz="1100" dirty="0">
                <a:solidFill>
                  <a:srgbClr val="6ECDC4"/>
                </a:solidFill>
              </a:rPr>
              <a:t>what wins?"</a:t>
            </a:r>
            <a:endParaRPr lang="en-US" sz="1100" dirty="0"/>
          </a:p>
        </p:txBody>
      </p:sp>
      <p:sp>
        <p:nvSpPr>
          <p:cNvPr id="15" name="Text 13"/>
          <p:cNvSpPr/>
          <p:nvPr/>
        </p:nvSpPr>
        <p:spPr>
          <a:xfrm>
            <a:off x="6995160" y="3273552"/>
            <a:ext cx="365760" cy="164592"/>
          </a:xfrm>
          <a:prstGeom prst="rect">
            <a:avLst/>
          </a:prstGeom>
          <a:noFill/>
          <a:ln/>
        </p:spPr>
        <p:txBody>
          <a:bodyPr wrap="square" lIns="0" tIns="0" rIns="0" bIns="0" rtlCol="0" anchor="ctr"/>
          <a:lstStyle/>
          <a:p>
            <a:pPr algn="ctr" indent="0" marL="0">
              <a:buNone/>
            </a:pPr>
            <a:r>
              <a:rPr lang="en-US" sz="1100" dirty="0">
                <a:solidFill>
                  <a:srgbClr val="8898A8"/>
                </a:solidFill>
              </a:rPr>
              <a:t>↓</a:t>
            </a:r>
            <a:endParaRPr lang="en-US" sz="1100" dirty="0"/>
          </a:p>
        </p:txBody>
      </p:sp>
      <p:sp>
        <p:nvSpPr>
          <p:cNvPr id="16" name="Shape 14"/>
          <p:cNvSpPr/>
          <p:nvPr/>
        </p:nvSpPr>
        <p:spPr>
          <a:xfrm>
            <a:off x="5669280" y="3429000"/>
            <a:ext cx="3017520" cy="1143000"/>
          </a:xfrm>
          <a:prstGeom prst="rect">
            <a:avLst/>
          </a:prstGeom>
          <a:solidFill>
            <a:srgbClr val="FFFFFF">
              <a:alpha val="8000"/>
            </a:srgbClr>
          </a:solidFill>
          <a:ln/>
        </p:spPr>
      </p:sp>
      <p:sp>
        <p:nvSpPr>
          <p:cNvPr id="17" name="Shape 15"/>
          <p:cNvSpPr/>
          <p:nvPr/>
        </p:nvSpPr>
        <p:spPr>
          <a:xfrm>
            <a:off x="5669280" y="3429000"/>
            <a:ext cx="64008" cy="1143000"/>
          </a:xfrm>
          <a:prstGeom prst="rect">
            <a:avLst/>
          </a:prstGeom>
          <a:solidFill>
            <a:srgbClr val="0D9488"/>
          </a:solidFill>
          <a:ln w="12700">
            <a:solidFill>
              <a:srgbClr val="0D9488"/>
            </a:solidFill>
            <a:prstDash val="solid"/>
          </a:ln>
        </p:spPr>
      </p:sp>
      <p:sp>
        <p:nvSpPr>
          <p:cNvPr id="18" name="Text 16"/>
          <p:cNvSpPr/>
          <p:nvPr/>
        </p:nvSpPr>
        <p:spPr>
          <a:xfrm>
            <a:off x="5824728" y="3502152"/>
            <a:ext cx="2743200" cy="320040"/>
          </a:xfrm>
          <a:prstGeom prst="rect">
            <a:avLst/>
          </a:prstGeom>
          <a:noFill/>
          <a:ln/>
        </p:spPr>
        <p:txBody>
          <a:bodyPr wrap="square" lIns="0" tIns="0" rIns="0" bIns="0" rtlCol="0" anchor="ctr"/>
          <a:lstStyle/>
          <a:p>
            <a:pPr algn="l" indent="0" marL="0">
              <a:buNone/>
            </a:pPr>
            <a:r>
              <a:rPr lang="en-US" sz="1400" b="1" dirty="0">
                <a:solidFill>
                  <a:srgbClr val="FFFFFF"/>
                </a:solidFill>
              </a:rPr>
              <a:t>Built</a:t>
            </a:r>
            <a:endParaRPr lang="en-US" sz="1400" dirty="0"/>
          </a:p>
        </p:txBody>
      </p:sp>
      <p:sp>
        <p:nvSpPr>
          <p:cNvPr id="19" name="Text 17"/>
          <p:cNvSpPr/>
          <p:nvPr/>
        </p:nvSpPr>
        <p:spPr>
          <a:xfrm>
            <a:off x="5824728" y="3840480"/>
            <a:ext cx="2743200" cy="594360"/>
          </a:xfrm>
          <a:prstGeom prst="rect">
            <a:avLst/>
          </a:prstGeom>
          <a:noFill/>
          <a:ln/>
        </p:spPr>
        <p:txBody>
          <a:bodyPr wrap="square" lIns="0" tIns="0" rIns="0" bIns="0" rtlCol="0" anchor="ctr"/>
          <a:lstStyle/>
          <a:p>
            <a:pPr algn="l" indent="0" marL="0">
              <a:buNone/>
            </a:pPr>
            <a:r>
              <a:rPr lang="en-US" sz="1100" dirty="0">
                <a:solidFill>
                  <a:srgbClr val="6ECDC4"/>
                </a:solidFill>
              </a:rPr>
              <a:t>A pipeline to learn,</a:t>
            </a:r>
            <a:endParaRPr lang="en-US" sz="1100" dirty="0"/>
          </a:p>
          <a:p>
            <a:pPr algn="l" indent="0" marL="0">
              <a:buNone/>
            </a:pPr>
            <a:r>
              <a:rPr lang="en-US" sz="1100" dirty="0">
                <a:solidFill>
                  <a:srgbClr val="6ECDC4"/>
                </a:solidFill>
              </a:rPr>
              <a:t>then generate it</a:t>
            </a:r>
            <a:endParaRPr lang="en-US" sz="1100" dirty="0"/>
          </a:p>
        </p:txBody>
      </p:sp>
      <p:sp>
        <p:nvSpPr>
          <p:cNvPr id="20" name="Shape 18"/>
          <p:cNvSpPr/>
          <p:nvPr/>
        </p:nvSpPr>
        <p:spPr>
          <a:xfrm>
            <a:off x="0" y="4846320"/>
            <a:ext cx="9144000" cy="297180"/>
          </a:xfrm>
          <a:prstGeom prst="rect">
            <a:avLst/>
          </a:prstGeom>
          <a:solidFill>
            <a:srgbClr val="0F1F3D"/>
          </a:solidFill>
          <a:ln w="12700">
            <a:solidFill>
              <a:srgbClr val="0F1F3D"/>
            </a:solidFill>
            <a:prstDash val="solid"/>
          </a:ln>
        </p:spPr>
      </p:sp>
      <p:sp>
        <p:nvSpPr>
          <p:cNvPr id="21" name="Text 19"/>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2 / 13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E8472D"/>
                </a:solidFill>
              </a:rPr>
              <a:t>THE PROBLEM</a:t>
            </a:r>
            <a:endParaRPr lang="en-US" sz="950" dirty="0"/>
          </a:p>
        </p:txBody>
      </p:sp>
      <p:sp>
        <p:nvSpPr>
          <p:cNvPr id="3" name="Text 1"/>
          <p:cNvSpPr/>
          <p:nvPr/>
        </p:nvSpPr>
        <p:spPr>
          <a:xfrm>
            <a:off x="457200" y="475488"/>
            <a:ext cx="8229600" cy="1417320"/>
          </a:xfrm>
          <a:prstGeom prst="rect">
            <a:avLst/>
          </a:prstGeom>
          <a:noFill/>
          <a:ln/>
        </p:spPr>
        <p:txBody>
          <a:bodyPr wrap="square" lIns="0" tIns="0" rIns="0" bIns="0" rtlCol="0" anchor="ctr"/>
          <a:lstStyle/>
          <a:p>
            <a:pPr algn="l" indent="0" marL="0">
              <a:buNone/>
            </a:pPr>
            <a:r>
              <a:rPr lang="en-US" sz="5200" b="1" dirty="0">
                <a:solidFill>
                  <a:srgbClr val="0F1F3D"/>
                </a:solidFill>
                <a:latin typeface="Georgia" pitchFamily="34" charset="0"/>
                <a:ea typeface="Georgia" pitchFamily="34" charset="-122"/>
                <a:cs typeface="Georgia" pitchFamily="34" charset="-120"/>
              </a:rPr>
              <a:t>Big budgets.</a:t>
            </a:r>
            <a:endParaRPr lang="en-US" sz="5200" dirty="0"/>
          </a:p>
          <a:p>
            <a:pPr algn="l" indent="0" marL="0">
              <a:buNone/>
            </a:pPr>
            <a:r>
              <a:rPr lang="en-US" sz="5200" b="1" dirty="0">
                <a:solidFill>
                  <a:srgbClr val="0F1F3D"/>
                </a:solidFill>
                <a:latin typeface="Georgia" pitchFamily="34" charset="0"/>
                <a:ea typeface="Georgia" pitchFamily="34" charset="-122"/>
                <a:cs typeface="Georgia" pitchFamily="34" charset="-120"/>
              </a:rPr>
              <a:t>Zero certainty.</a:t>
            </a:r>
            <a:endParaRPr lang="en-US" sz="5200" dirty="0"/>
          </a:p>
        </p:txBody>
      </p:sp>
      <p:sp>
        <p:nvSpPr>
          <p:cNvPr id="4" name="Shape 2"/>
          <p:cNvSpPr/>
          <p:nvPr/>
        </p:nvSpPr>
        <p:spPr>
          <a:xfrm>
            <a:off x="457200" y="2057400"/>
            <a:ext cx="2697480" cy="24231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5" name="Shape 3"/>
          <p:cNvSpPr/>
          <p:nvPr/>
        </p:nvSpPr>
        <p:spPr>
          <a:xfrm>
            <a:off x="457200" y="2057400"/>
            <a:ext cx="2697480" cy="502920"/>
          </a:xfrm>
          <a:prstGeom prst="rect">
            <a:avLst/>
          </a:prstGeom>
          <a:solidFill>
            <a:srgbClr val="1A5FA8"/>
          </a:solidFill>
          <a:ln w="12700">
            <a:solidFill>
              <a:srgbClr val="1A5FA8"/>
            </a:solidFill>
            <a:prstDash val="solid"/>
          </a:ln>
        </p:spPr>
      </p:sp>
      <p:sp>
        <p:nvSpPr>
          <p:cNvPr id="6" name="Text 4"/>
          <p:cNvSpPr/>
          <p:nvPr/>
        </p:nvSpPr>
        <p:spPr>
          <a:xfrm>
            <a:off x="457200" y="2057400"/>
            <a:ext cx="269748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$107B</a:t>
            </a:r>
            <a:endParaRPr lang="en-US" sz="3200" dirty="0"/>
          </a:p>
        </p:txBody>
      </p:sp>
      <p:sp>
        <p:nvSpPr>
          <p:cNvPr id="7" name="Text 5"/>
          <p:cNvSpPr/>
          <p:nvPr/>
        </p:nvSpPr>
        <p:spPr>
          <a:xfrm>
            <a:off x="594360" y="2633472"/>
            <a:ext cx="2423160" cy="1371600"/>
          </a:xfrm>
          <a:prstGeom prst="rect">
            <a:avLst/>
          </a:prstGeom>
          <a:noFill/>
          <a:ln/>
        </p:spPr>
        <p:txBody>
          <a:bodyPr wrap="square" lIns="0" tIns="0" rIns="0" bIns="0" rtlCol="0" anchor="ctr"/>
          <a:lstStyle/>
          <a:p>
            <a:pPr algn="ctr" indent="0" marL="0">
              <a:buNone/>
            </a:pPr>
            <a:r>
              <a:rPr lang="en-US" sz="1500" dirty="0">
                <a:solidFill>
                  <a:srgbClr val="2D3748"/>
                </a:solidFill>
              </a:rPr>
              <a:t>spent on content</a:t>
            </a:r>
            <a:endParaRPr lang="en-US" sz="1500" dirty="0"/>
          </a:p>
          <a:p>
            <a:pPr algn="ctr" indent="0" marL="0">
              <a:buNone/>
            </a:pPr>
            <a:r>
              <a:rPr lang="en-US" sz="1500" dirty="0">
                <a:solidFill>
                  <a:srgbClr val="2D3748"/>
                </a:solidFill>
              </a:rPr>
              <a:t>marketing in 2026</a:t>
            </a:r>
            <a:endParaRPr lang="en-US" sz="1500" dirty="0"/>
          </a:p>
        </p:txBody>
      </p:sp>
      <p:sp>
        <p:nvSpPr>
          <p:cNvPr id="8" name="Text 6"/>
          <p:cNvSpPr/>
          <p:nvPr/>
        </p:nvSpPr>
        <p:spPr>
          <a:xfrm>
            <a:off x="457200" y="4315968"/>
            <a:ext cx="2697480" cy="201168"/>
          </a:xfrm>
          <a:prstGeom prst="rect">
            <a:avLst/>
          </a:prstGeom>
          <a:noFill/>
          <a:ln/>
        </p:spPr>
        <p:txBody>
          <a:bodyPr wrap="square" lIns="0" tIns="0" rIns="0" bIns="0" rtlCol="0" anchor="ctr"/>
          <a:lstStyle/>
          <a:p>
            <a:pPr algn="ctr" indent="0" marL="0">
              <a:buNone/>
            </a:pPr>
            <a:r>
              <a:rPr lang="en-US" sz="850" i="1" dirty="0">
                <a:solidFill>
                  <a:srgbClr val="8898A8"/>
                </a:solidFill>
              </a:rPr>
              <a:t>CMI, 2026</a:t>
            </a:r>
            <a:endParaRPr lang="en-US" sz="850" dirty="0"/>
          </a:p>
        </p:txBody>
      </p:sp>
      <p:sp>
        <p:nvSpPr>
          <p:cNvPr id="9" name="Shape 7"/>
          <p:cNvSpPr/>
          <p:nvPr/>
        </p:nvSpPr>
        <p:spPr>
          <a:xfrm>
            <a:off x="3337560" y="2057400"/>
            <a:ext cx="2697480" cy="24231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0" name="Shape 8"/>
          <p:cNvSpPr/>
          <p:nvPr/>
        </p:nvSpPr>
        <p:spPr>
          <a:xfrm>
            <a:off x="3337560" y="2057400"/>
            <a:ext cx="2697480" cy="502920"/>
          </a:xfrm>
          <a:prstGeom prst="rect">
            <a:avLst/>
          </a:prstGeom>
          <a:solidFill>
            <a:srgbClr val="0D9488"/>
          </a:solidFill>
          <a:ln w="12700">
            <a:solidFill>
              <a:srgbClr val="0D9488"/>
            </a:solidFill>
            <a:prstDash val="solid"/>
          </a:ln>
        </p:spPr>
      </p:sp>
      <p:sp>
        <p:nvSpPr>
          <p:cNvPr id="11" name="Text 9"/>
          <p:cNvSpPr/>
          <p:nvPr/>
        </p:nvSpPr>
        <p:spPr>
          <a:xfrm>
            <a:off x="3337560" y="2057400"/>
            <a:ext cx="269748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26%</a:t>
            </a:r>
            <a:endParaRPr lang="en-US" sz="3200" dirty="0"/>
          </a:p>
        </p:txBody>
      </p:sp>
      <p:sp>
        <p:nvSpPr>
          <p:cNvPr id="12" name="Text 10"/>
          <p:cNvSpPr/>
          <p:nvPr/>
        </p:nvSpPr>
        <p:spPr>
          <a:xfrm>
            <a:off x="3474720" y="2633472"/>
            <a:ext cx="2423160" cy="1371600"/>
          </a:xfrm>
          <a:prstGeom prst="rect">
            <a:avLst/>
          </a:prstGeom>
          <a:noFill/>
          <a:ln/>
        </p:spPr>
        <p:txBody>
          <a:bodyPr wrap="square" lIns="0" tIns="0" rIns="0" bIns="0" rtlCol="0" anchor="ctr"/>
          <a:lstStyle/>
          <a:p>
            <a:pPr algn="ctr" indent="0" marL="0">
              <a:buNone/>
            </a:pPr>
            <a:r>
              <a:rPr lang="en-US" sz="1500" dirty="0">
                <a:solidFill>
                  <a:srgbClr val="2D3748"/>
                </a:solidFill>
              </a:rPr>
              <a:t>of total marketing</a:t>
            </a:r>
            <a:endParaRPr lang="en-US" sz="1500" dirty="0"/>
          </a:p>
          <a:p>
            <a:pPr algn="ctr" indent="0" marL="0">
              <a:buNone/>
            </a:pPr>
            <a:r>
              <a:rPr lang="en-US" sz="1500" dirty="0">
                <a:solidFill>
                  <a:srgbClr val="2D3748"/>
                </a:solidFill>
              </a:rPr>
              <a:t>budget = content</a:t>
            </a:r>
            <a:endParaRPr lang="en-US" sz="1500" dirty="0"/>
          </a:p>
        </p:txBody>
      </p:sp>
      <p:sp>
        <p:nvSpPr>
          <p:cNvPr id="13" name="Text 11"/>
          <p:cNvSpPr/>
          <p:nvPr/>
        </p:nvSpPr>
        <p:spPr>
          <a:xfrm>
            <a:off x="3337560" y="4315968"/>
            <a:ext cx="2697480" cy="201168"/>
          </a:xfrm>
          <a:prstGeom prst="rect">
            <a:avLst/>
          </a:prstGeom>
          <a:noFill/>
          <a:ln/>
        </p:spPr>
        <p:txBody>
          <a:bodyPr wrap="square" lIns="0" tIns="0" rIns="0" bIns="0" rtlCol="0" anchor="ctr"/>
          <a:lstStyle/>
          <a:p>
            <a:pPr algn="ctr" indent="0" marL="0">
              <a:buNone/>
            </a:pPr>
            <a:r>
              <a:rPr lang="en-US" sz="850" i="1" dirty="0">
                <a:solidFill>
                  <a:srgbClr val="8898A8"/>
                </a:solidFill>
              </a:rPr>
              <a:t>CMI, 2026</a:t>
            </a:r>
            <a:endParaRPr lang="en-US" sz="850" dirty="0"/>
          </a:p>
        </p:txBody>
      </p:sp>
      <p:sp>
        <p:nvSpPr>
          <p:cNvPr id="14" name="Shape 12"/>
          <p:cNvSpPr/>
          <p:nvPr/>
        </p:nvSpPr>
        <p:spPr>
          <a:xfrm>
            <a:off x="6217920" y="2057400"/>
            <a:ext cx="2697480" cy="24231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5" name="Shape 13"/>
          <p:cNvSpPr/>
          <p:nvPr/>
        </p:nvSpPr>
        <p:spPr>
          <a:xfrm>
            <a:off x="6217920" y="2057400"/>
            <a:ext cx="2697480" cy="502920"/>
          </a:xfrm>
          <a:prstGeom prst="rect">
            <a:avLst/>
          </a:prstGeom>
          <a:solidFill>
            <a:srgbClr val="E8472D"/>
          </a:solidFill>
          <a:ln w="12700">
            <a:solidFill>
              <a:srgbClr val="E8472D"/>
            </a:solidFill>
            <a:prstDash val="solid"/>
          </a:ln>
        </p:spPr>
      </p:sp>
      <p:sp>
        <p:nvSpPr>
          <p:cNvPr id="16" name="Text 14"/>
          <p:cNvSpPr/>
          <p:nvPr/>
        </p:nvSpPr>
        <p:spPr>
          <a:xfrm>
            <a:off x="6217920" y="2057400"/>
            <a:ext cx="269748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#1</a:t>
            </a:r>
            <a:endParaRPr lang="en-US" sz="3200" dirty="0"/>
          </a:p>
        </p:txBody>
      </p:sp>
      <p:sp>
        <p:nvSpPr>
          <p:cNvPr id="17" name="Text 15"/>
          <p:cNvSpPr/>
          <p:nvPr/>
        </p:nvSpPr>
        <p:spPr>
          <a:xfrm>
            <a:off x="6355080" y="2633472"/>
            <a:ext cx="2423160" cy="1371600"/>
          </a:xfrm>
          <a:prstGeom prst="rect">
            <a:avLst/>
          </a:prstGeom>
          <a:noFill/>
          <a:ln/>
        </p:spPr>
        <p:txBody>
          <a:bodyPr wrap="square" lIns="0" tIns="0" rIns="0" bIns="0" rtlCol="0" anchor="ctr"/>
          <a:lstStyle/>
          <a:p>
            <a:pPr algn="ctr" indent="0" marL="0">
              <a:buNone/>
            </a:pPr>
            <a:r>
              <a:rPr lang="en-US" sz="1500" dirty="0">
                <a:solidFill>
                  <a:srgbClr val="2D3748"/>
                </a:solidFill>
              </a:rPr>
              <a:t>pain point: proving</a:t>
            </a:r>
            <a:endParaRPr lang="en-US" sz="1500" dirty="0"/>
          </a:p>
          <a:p>
            <a:pPr algn="ctr" indent="0" marL="0">
              <a:buNone/>
            </a:pPr>
            <a:r>
              <a:rPr lang="en-US" sz="1500" dirty="0">
                <a:solidFill>
                  <a:srgbClr val="2D3748"/>
                </a:solidFill>
              </a:rPr>
              <a:t>it works at all</a:t>
            </a:r>
            <a:endParaRPr lang="en-US" sz="1500" dirty="0"/>
          </a:p>
        </p:txBody>
      </p:sp>
      <p:sp>
        <p:nvSpPr>
          <p:cNvPr id="18" name="Text 16"/>
          <p:cNvSpPr/>
          <p:nvPr/>
        </p:nvSpPr>
        <p:spPr>
          <a:xfrm>
            <a:off x="6217920" y="4315968"/>
            <a:ext cx="2697480" cy="201168"/>
          </a:xfrm>
          <a:prstGeom prst="rect">
            <a:avLst/>
          </a:prstGeom>
          <a:noFill/>
          <a:ln/>
        </p:spPr>
        <p:txBody>
          <a:bodyPr wrap="square" lIns="0" tIns="0" rIns="0" bIns="0" rtlCol="0" anchor="ctr"/>
          <a:lstStyle/>
          <a:p>
            <a:pPr algn="ctr" indent="0" marL="0">
              <a:buNone/>
            </a:pPr>
            <a:r>
              <a:rPr lang="en-US" sz="850" i="1" dirty="0">
                <a:solidFill>
                  <a:srgbClr val="8898A8"/>
                </a:solidFill>
              </a:rPr>
              <a:t>CMI, 2026</a:t>
            </a:r>
            <a:endParaRPr lang="en-US" sz="850" dirty="0"/>
          </a:p>
        </p:txBody>
      </p:sp>
      <p:sp>
        <p:nvSpPr>
          <p:cNvPr id="19" name="Shape 17"/>
          <p:cNvSpPr/>
          <p:nvPr/>
        </p:nvSpPr>
        <p:spPr>
          <a:xfrm>
            <a:off x="457200" y="4572000"/>
            <a:ext cx="8229600" cy="201168"/>
          </a:xfrm>
          <a:prstGeom prst="rect">
            <a:avLst/>
          </a:prstGeom>
          <a:solidFill>
            <a:srgbClr val="0F1F3D"/>
          </a:solidFill>
          <a:ln/>
        </p:spPr>
      </p:sp>
      <p:sp>
        <p:nvSpPr>
          <p:cNvPr id="20" name="Text 18"/>
          <p:cNvSpPr/>
          <p:nvPr/>
        </p:nvSpPr>
        <p:spPr>
          <a:xfrm>
            <a:off x="594360" y="4581144"/>
            <a:ext cx="7955280" cy="182880"/>
          </a:xfrm>
          <a:prstGeom prst="rect">
            <a:avLst/>
          </a:prstGeom>
          <a:noFill/>
          <a:ln/>
        </p:spPr>
        <p:txBody>
          <a:bodyPr wrap="square" lIns="0" tIns="0" rIns="0" bIns="0" rtlCol="0" anchor="ctr"/>
          <a:lstStyle/>
          <a:p>
            <a:pPr algn="l" indent="0" marL="0">
              <a:buNone/>
            </a:pPr>
            <a:r>
              <a:rPr lang="en-US" sz="1000" b="1" i="1" dirty="0">
                <a:solidFill>
                  <a:srgbClr val="FFFFFF"/>
                </a:solidFill>
              </a:rPr>
              <a:t>AI tools made it cheaper to produce content. They didn't make it smarter to decide what to produce.</a:t>
            </a:r>
            <a:endParaRPr lang="en-US" sz="1000" dirty="0"/>
          </a:p>
        </p:txBody>
      </p:sp>
      <p:sp>
        <p:nvSpPr>
          <p:cNvPr id="21" name="Shape 19"/>
          <p:cNvSpPr/>
          <p:nvPr/>
        </p:nvSpPr>
        <p:spPr>
          <a:xfrm>
            <a:off x="0" y="4846320"/>
            <a:ext cx="9144000" cy="297180"/>
          </a:xfrm>
          <a:prstGeom prst="rect">
            <a:avLst/>
          </a:prstGeom>
          <a:solidFill>
            <a:srgbClr val="0F1F3D"/>
          </a:solidFill>
          <a:ln w="12700">
            <a:solidFill>
              <a:srgbClr val="0F1F3D"/>
            </a:solidFill>
            <a:prstDash val="solid"/>
          </a:ln>
        </p:spPr>
      </p:sp>
      <p:sp>
        <p:nvSpPr>
          <p:cNvPr id="22" name="Text 20"/>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3 / 13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FA8"/>
        </a:solidFill>
      </p:bgPr>
    </p:bg>
    <p:spTree>
      <p:nvGrpSpPr>
        <p:cNvPr id="1" name=""/>
        <p:cNvGrpSpPr/>
        <p:nvPr/>
      </p:nvGrpSpPr>
      <p:grpSpPr>
        <a:xfrm>
          <a:off x="0" y="0"/>
          <a:ext cx="0" cy="0"/>
          <a:chOff x="0" y="0"/>
          <a:chExt cx="0" cy="0"/>
        </a:xfrm>
      </p:grpSpPr>
      <p:sp>
        <p:nvSpPr>
          <p:cNvPr id="2" name="Text 0"/>
          <p:cNvSpPr/>
          <p:nvPr/>
        </p:nvSpPr>
        <p:spPr>
          <a:xfrm>
            <a:off x="548640" y="457200"/>
            <a:ext cx="8046720" cy="3200400"/>
          </a:xfrm>
          <a:prstGeom prst="rect">
            <a:avLst/>
          </a:prstGeom>
          <a:noFill/>
          <a:ln/>
        </p:spPr>
        <p:txBody>
          <a:bodyPr wrap="square" lIns="0" tIns="0" rIns="0" bIns="0" rtlCol="0" anchor="ctr"/>
          <a:lstStyle/>
          <a:p>
            <a:pPr algn="l" indent="0" marL="0">
              <a:buNone/>
            </a:pPr>
            <a:r>
              <a:rPr lang="en-US" sz="5400" b="1" dirty="0">
                <a:solidFill>
                  <a:srgbClr val="FFFFFF"/>
                </a:solidFill>
                <a:latin typeface="Georgia" pitchFamily="34" charset="0"/>
                <a:ea typeface="Georgia" pitchFamily="34" charset="-122"/>
                <a:cs typeface="Georgia" pitchFamily="34" charset="-120"/>
              </a:rPr>
              <a:t>"What if we could</a:t>
            </a:r>
            <a:endParaRPr lang="en-US" sz="5400" dirty="0"/>
          </a:p>
          <a:p>
            <a:pPr algn="l" indent="0" marL="0">
              <a:buNone/>
            </a:pPr>
            <a:r>
              <a:rPr lang="en-US" sz="5400" b="1" dirty="0">
                <a:solidFill>
                  <a:srgbClr val="FFFFFF"/>
                </a:solidFill>
                <a:latin typeface="Georgia" pitchFamily="34" charset="0"/>
                <a:ea typeface="Georgia" pitchFamily="34" charset="-122"/>
                <a:cs typeface="Georgia" pitchFamily="34" charset="-120"/>
              </a:rPr>
              <a:t>reverse-engineer</a:t>
            </a:r>
            <a:endParaRPr lang="en-US" sz="5400" dirty="0"/>
          </a:p>
          <a:p>
            <a:pPr algn="l" indent="0" marL="0">
              <a:buNone/>
            </a:pPr>
            <a:r>
              <a:rPr lang="en-US" sz="5400" b="1" dirty="0">
                <a:solidFill>
                  <a:srgbClr val="FFFFFF"/>
                </a:solidFill>
                <a:latin typeface="Georgia" pitchFamily="34" charset="0"/>
                <a:ea typeface="Georgia" pitchFamily="34" charset="-122"/>
                <a:cs typeface="Georgia" pitchFamily="34" charset="-120"/>
              </a:rPr>
              <a:t>what wins?"</a:t>
            </a:r>
            <a:endParaRPr lang="en-US" sz="5400" dirty="0"/>
          </a:p>
        </p:txBody>
      </p:sp>
      <p:sp>
        <p:nvSpPr>
          <p:cNvPr id="3" name="Shape 1"/>
          <p:cNvSpPr/>
          <p:nvPr/>
        </p:nvSpPr>
        <p:spPr>
          <a:xfrm>
            <a:off x="548640" y="3749040"/>
            <a:ext cx="8046720" cy="54864"/>
          </a:xfrm>
          <a:prstGeom prst="rect">
            <a:avLst/>
          </a:prstGeom>
          <a:solidFill>
            <a:srgbClr val="F5A623"/>
          </a:solidFill>
          <a:ln w="12700">
            <a:solidFill>
              <a:srgbClr val="F5A623"/>
            </a:solidFill>
            <a:prstDash val="solid"/>
          </a:ln>
        </p:spPr>
      </p:sp>
      <p:sp>
        <p:nvSpPr>
          <p:cNvPr id="4" name="Text 2"/>
          <p:cNvSpPr/>
          <p:nvPr/>
        </p:nvSpPr>
        <p:spPr>
          <a:xfrm>
            <a:off x="548640" y="3913632"/>
            <a:ext cx="8046720" cy="502920"/>
          </a:xfrm>
          <a:prstGeom prst="rect">
            <a:avLst/>
          </a:prstGeom>
          <a:noFill/>
          <a:ln/>
        </p:spPr>
        <p:txBody>
          <a:bodyPr wrap="square" lIns="0" tIns="0" rIns="0" bIns="0" rtlCol="0" anchor="ctr"/>
          <a:lstStyle/>
          <a:p>
            <a:pPr algn="l" indent="0" marL="0">
              <a:buNone/>
            </a:pPr>
            <a:r>
              <a:rPr lang="en-US" sz="1500" i="1" dirty="0">
                <a:solidFill>
                  <a:srgbClr val="D6EAF8"/>
                </a:solidFill>
              </a:rPr>
              <a:t>Analyze thousands of real posts → find patterns → condition AI to generate content using those patterns.</a:t>
            </a:r>
            <a:endParaRPr lang="en-US" sz="1500" dirty="0"/>
          </a:p>
        </p:txBody>
      </p:sp>
      <p:sp>
        <p:nvSpPr>
          <p:cNvPr id="5" name="Text 3"/>
          <p:cNvSpPr/>
          <p:nvPr/>
        </p:nvSpPr>
        <p:spPr>
          <a:xfrm>
            <a:off x="548640" y="4462272"/>
            <a:ext cx="8046720" cy="292608"/>
          </a:xfrm>
          <a:prstGeom prst="rect">
            <a:avLst/>
          </a:prstGeom>
          <a:noFill/>
          <a:ln/>
        </p:spPr>
        <p:txBody>
          <a:bodyPr wrap="square" lIns="0" tIns="0" rIns="0" bIns="0" rtlCol="0" anchor="ctr"/>
          <a:lstStyle/>
          <a:p>
            <a:pPr algn="l" indent="0" marL="0">
              <a:buNone/>
            </a:pPr>
            <a:r>
              <a:rPr lang="en-US" sz="1200" dirty="0">
                <a:solidFill>
                  <a:srgbClr val="6ECDC4"/>
                </a:solidFill>
              </a:rPr>
              <a:t>That's the hypothesis. Here's what happened when we tested it.</a:t>
            </a:r>
            <a:endParaRPr lang="en-US" sz="1200" dirty="0"/>
          </a:p>
        </p:txBody>
      </p:sp>
      <p:sp>
        <p:nvSpPr>
          <p:cNvPr id="6" name="Shape 4"/>
          <p:cNvSpPr/>
          <p:nvPr/>
        </p:nvSpPr>
        <p:spPr>
          <a:xfrm>
            <a:off x="0" y="4846320"/>
            <a:ext cx="9144000" cy="297180"/>
          </a:xfrm>
          <a:prstGeom prst="rect">
            <a:avLst/>
          </a:prstGeom>
          <a:solidFill>
            <a:srgbClr val="0F1F3D"/>
          </a:solidFill>
          <a:ln w="12700">
            <a:solidFill>
              <a:srgbClr val="0F1F3D"/>
            </a:solidFill>
            <a:prstDash val="solid"/>
          </a:ln>
        </p:spPr>
      </p:sp>
      <p:sp>
        <p:nvSpPr>
          <p:cNvPr id="7" name="Text 5"/>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4 / 13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0D9488"/>
                </a:solidFill>
              </a:rPr>
              <a:t>HOW WE BUILT IT</a:t>
            </a:r>
            <a:endParaRPr lang="en-US" sz="95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algn="l" indent="0" marL="0">
              <a:buNone/>
            </a:pPr>
            <a:r>
              <a:rPr lang="en-US" sz="2600" b="1" dirty="0">
                <a:solidFill>
                  <a:srgbClr val="0F1F3D"/>
                </a:solidFill>
                <a:latin typeface="Georgia" pitchFamily="34" charset="0"/>
                <a:ea typeface="Georgia" pitchFamily="34" charset="-122"/>
                <a:cs typeface="Georgia" pitchFamily="34" charset="-120"/>
              </a:rPr>
              <a:t>A 5-stage journey from raw data to publishable content.</a:t>
            </a:r>
            <a:endParaRPr lang="en-US" sz="2600" dirty="0"/>
          </a:p>
        </p:txBody>
      </p:sp>
      <p:sp>
        <p:nvSpPr>
          <p:cNvPr id="4" name="Shape 2"/>
          <p:cNvSpPr/>
          <p:nvPr/>
        </p:nvSpPr>
        <p:spPr>
          <a:xfrm>
            <a:off x="1810512" y="2286000"/>
            <a:ext cx="228600" cy="54864"/>
          </a:xfrm>
          <a:prstGeom prst="rect">
            <a:avLst/>
          </a:prstGeom>
          <a:solidFill>
            <a:srgbClr val="8898A8"/>
          </a:solidFill>
          <a:ln w="12700">
            <a:solidFill>
              <a:srgbClr val="8898A8"/>
            </a:solidFill>
            <a:prstDash val="solid"/>
          </a:ln>
        </p:spPr>
      </p:sp>
      <p:sp>
        <p:nvSpPr>
          <p:cNvPr id="5" name="Text 3"/>
          <p:cNvSpPr/>
          <p:nvPr/>
        </p:nvSpPr>
        <p:spPr>
          <a:xfrm>
            <a:off x="1783080" y="2176272"/>
            <a:ext cx="274320" cy="219456"/>
          </a:xfrm>
          <a:prstGeom prst="rect">
            <a:avLst/>
          </a:prstGeom>
          <a:noFill/>
          <a:ln/>
        </p:spPr>
        <p:txBody>
          <a:bodyPr wrap="square" lIns="0" tIns="0" rIns="0" bIns="0" rtlCol="0" anchor="ctr"/>
          <a:lstStyle/>
          <a:p>
            <a:pPr algn="ctr" indent="0" marL="0">
              <a:buNone/>
            </a:pPr>
            <a:r>
              <a:rPr lang="en-US" sz="1100" dirty="0">
                <a:solidFill>
                  <a:srgbClr val="8898A8"/>
                </a:solidFill>
              </a:rPr>
              <a:t>▶</a:t>
            </a:r>
            <a:endParaRPr lang="en-US" sz="1100" dirty="0"/>
          </a:p>
        </p:txBody>
      </p:sp>
      <p:sp>
        <p:nvSpPr>
          <p:cNvPr id="6" name="Shape 4"/>
          <p:cNvSpPr/>
          <p:nvPr/>
        </p:nvSpPr>
        <p:spPr>
          <a:xfrm>
            <a:off x="320040" y="1298448"/>
            <a:ext cx="1508760" cy="33375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7" name="Shape 5"/>
          <p:cNvSpPr/>
          <p:nvPr/>
        </p:nvSpPr>
        <p:spPr>
          <a:xfrm>
            <a:off x="320040" y="1298448"/>
            <a:ext cx="1508760" cy="73152"/>
          </a:xfrm>
          <a:prstGeom prst="rect">
            <a:avLst/>
          </a:prstGeom>
          <a:solidFill>
            <a:srgbClr val="1A5FA8"/>
          </a:solidFill>
          <a:ln w="12700">
            <a:solidFill>
              <a:srgbClr val="1A5FA8"/>
            </a:solidFill>
            <a:prstDash val="solid"/>
          </a:ln>
        </p:spPr>
      </p:sp>
      <p:sp>
        <p:nvSpPr>
          <p:cNvPr id="8" name="Shape 6"/>
          <p:cNvSpPr/>
          <p:nvPr/>
        </p:nvSpPr>
        <p:spPr>
          <a:xfrm>
            <a:off x="813816" y="1408176"/>
            <a:ext cx="521208" cy="521208"/>
          </a:xfrm>
          <a:prstGeom prst="ellipse">
            <a:avLst/>
          </a:prstGeom>
          <a:solidFill>
            <a:srgbClr val="1A5FA8"/>
          </a:solidFill>
          <a:ln w="12700">
            <a:solidFill>
              <a:srgbClr val="1A5FA8"/>
            </a:solidFill>
            <a:prstDash val="solid"/>
          </a:ln>
        </p:spPr>
      </p:sp>
      <p:sp>
        <p:nvSpPr>
          <p:cNvPr id="9" name="Text 7"/>
          <p:cNvSpPr/>
          <p:nvPr/>
        </p:nvSpPr>
        <p:spPr>
          <a:xfrm>
            <a:off x="813816" y="1408176"/>
            <a:ext cx="521208" cy="521208"/>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10" name="Text 8"/>
          <p:cNvSpPr/>
          <p:nvPr/>
        </p:nvSpPr>
        <p:spPr>
          <a:xfrm>
            <a:off x="320040" y="2011680"/>
            <a:ext cx="15087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320040" y="2423160"/>
            <a:ext cx="1508760" cy="347472"/>
          </a:xfrm>
          <a:prstGeom prst="rect">
            <a:avLst/>
          </a:prstGeom>
          <a:noFill/>
          <a:ln/>
        </p:spPr>
        <p:txBody>
          <a:bodyPr wrap="square" lIns="0" tIns="0" rIns="0" bIns="0" rtlCol="0" anchor="ctr"/>
          <a:lstStyle/>
          <a:p>
            <a:pPr algn="ctr" indent="0" marL="0">
              <a:buNone/>
            </a:pPr>
            <a:r>
              <a:rPr lang="en-US" sz="1400" b="1" dirty="0">
                <a:solidFill>
                  <a:srgbClr val="0F1F3D"/>
                </a:solidFill>
              </a:rPr>
              <a:t>Collect</a:t>
            </a:r>
            <a:endParaRPr lang="en-US" sz="1400" dirty="0"/>
          </a:p>
        </p:txBody>
      </p:sp>
      <p:sp>
        <p:nvSpPr>
          <p:cNvPr id="12" name="Text 10"/>
          <p:cNvSpPr/>
          <p:nvPr/>
        </p:nvSpPr>
        <p:spPr>
          <a:xfrm>
            <a:off x="411480" y="2816352"/>
            <a:ext cx="1325880" cy="1508760"/>
          </a:xfrm>
          <a:prstGeom prst="rect">
            <a:avLst/>
          </a:prstGeom>
          <a:noFill/>
          <a:ln/>
        </p:spPr>
        <p:txBody>
          <a:bodyPr wrap="square" lIns="0" tIns="0" rIns="0" bIns="0" rtlCol="0" anchor="ctr"/>
          <a:lstStyle/>
          <a:p>
            <a:pPr algn="ctr" indent="0" marL="0">
              <a:buNone/>
            </a:pPr>
            <a:r>
              <a:rPr lang="en-US" sz="1050" dirty="0">
                <a:solidFill>
                  <a:srgbClr val="8898A8"/>
                </a:solidFill>
              </a:rPr>
              <a:t>12K Reddit posts</a:t>
            </a:r>
            <a:endParaRPr lang="en-US" sz="1050" dirty="0"/>
          </a:p>
          <a:p>
            <a:pPr algn="ctr" indent="0" marL="0">
              <a:buNone/>
            </a:pPr>
            <a:r>
              <a:rPr lang="en-US" sz="1050" dirty="0">
                <a:solidFill>
                  <a:srgbClr val="8898A8"/>
                </a:solidFill>
              </a:rPr>
              <a:t>+ Google Trends</a:t>
            </a:r>
            <a:endParaRPr lang="en-US" sz="1050" dirty="0"/>
          </a:p>
          <a:p>
            <a:pPr algn="ctr" indent="0" marL="0">
              <a:buNone/>
            </a:pPr>
            <a:r>
              <a:rPr lang="en-US" sz="1050" dirty="0">
                <a:solidFill>
                  <a:srgbClr val="8898A8"/>
                </a:solidFill>
              </a:rPr>
              <a:t>24-month series</a:t>
            </a:r>
            <a:endParaRPr lang="en-US" sz="1050" dirty="0"/>
          </a:p>
        </p:txBody>
      </p:sp>
      <p:sp>
        <p:nvSpPr>
          <p:cNvPr id="13" name="Shape 11"/>
          <p:cNvSpPr/>
          <p:nvPr/>
        </p:nvSpPr>
        <p:spPr>
          <a:xfrm>
            <a:off x="3529584" y="2286000"/>
            <a:ext cx="228600" cy="54864"/>
          </a:xfrm>
          <a:prstGeom prst="rect">
            <a:avLst/>
          </a:prstGeom>
          <a:solidFill>
            <a:srgbClr val="8898A8"/>
          </a:solidFill>
          <a:ln w="12700">
            <a:solidFill>
              <a:srgbClr val="8898A8"/>
            </a:solidFill>
            <a:prstDash val="solid"/>
          </a:ln>
        </p:spPr>
      </p:sp>
      <p:sp>
        <p:nvSpPr>
          <p:cNvPr id="14" name="Text 12"/>
          <p:cNvSpPr/>
          <p:nvPr/>
        </p:nvSpPr>
        <p:spPr>
          <a:xfrm>
            <a:off x="3502152" y="2176272"/>
            <a:ext cx="274320" cy="219456"/>
          </a:xfrm>
          <a:prstGeom prst="rect">
            <a:avLst/>
          </a:prstGeom>
          <a:noFill/>
          <a:ln/>
        </p:spPr>
        <p:txBody>
          <a:bodyPr wrap="square" lIns="0" tIns="0" rIns="0" bIns="0" rtlCol="0" anchor="ctr"/>
          <a:lstStyle/>
          <a:p>
            <a:pPr algn="ctr" indent="0" marL="0">
              <a:buNone/>
            </a:pPr>
            <a:r>
              <a:rPr lang="en-US" sz="1100" dirty="0">
                <a:solidFill>
                  <a:srgbClr val="8898A8"/>
                </a:solidFill>
              </a:rPr>
              <a:t>▶</a:t>
            </a:r>
            <a:endParaRPr lang="en-US" sz="1100" dirty="0"/>
          </a:p>
        </p:txBody>
      </p:sp>
      <p:sp>
        <p:nvSpPr>
          <p:cNvPr id="15" name="Shape 13"/>
          <p:cNvSpPr/>
          <p:nvPr/>
        </p:nvSpPr>
        <p:spPr>
          <a:xfrm>
            <a:off x="2039112" y="1298448"/>
            <a:ext cx="1508760" cy="33375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6" name="Shape 14"/>
          <p:cNvSpPr/>
          <p:nvPr/>
        </p:nvSpPr>
        <p:spPr>
          <a:xfrm>
            <a:off x="2039112" y="1298448"/>
            <a:ext cx="1508760" cy="73152"/>
          </a:xfrm>
          <a:prstGeom prst="rect">
            <a:avLst/>
          </a:prstGeom>
          <a:solidFill>
            <a:srgbClr val="0D9488"/>
          </a:solidFill>
          <a:ln w="12700">
            <a:solidFill>
              <a:srgbClr val="0D9488"/>
            </a:solidFill>
            <a:prstDash val="solid"/>
          </a:ln>
        </p:spPr>
      </p:sp>
      <p:sp>
        <p:nvSpPr>
          <p:cNvPr id="17" name="Shape 15"/>
          <p:cNvSpPr/>
          <p:nvPr/>
        </p:nvSpPr>
        <p:spPr>
          <a:xfrm>
            <a:off x="2532888" y="1408176"/>
            <a:ext cx="521208" cy="521208"/>
          </a:xfrm>
          <a:prstGeom prst="ellipse">
            <a:avLst/>
          </a:prstGeom>
          <a:solidFill>
            <a:srgbClr val="0D9488"/>
          </a:solidFill>
          <a:ln w="12700">
            <a:solidFill>
              <a:srgbClr val="0D9488"/>
            </a:solidFill>
            <a:prstDash val="solid"/>
          </a:ln>
        </p:spPr>
      </p:sp>
      <p:sp>
        <p:nvSpPr>
          <p:cNvPr id="18" name="Text 16"/>
          <p:cNvSpPr/>
          <p:nvPr/>
        </p:nvSpPr>
        <p:spPr>
          <a:xfrm>
            <a:off x="2532888" y="1408176"/>
            <a:ext cx="521208" cy="521208"/>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9" name="Text 17"/>
          <p:cNvSpPr/>
          <p:nvPr/>
        </p:nvSpPr>
        <p:spPr>
          <a:xfrm>
            <a:off x="2039112" y="2011680"/>
            <a:ext cx="15087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2039112" y="2423160"/>
            <a:ext cx="1508760" cy="347472"/>
          </a:xfrm>
          <a:prstGeom prst="rect">
            <a:avLst/>
          </a:prstGeom>
          <a:noFill/>
          <a:ln/>
        </p:spPr>
        <p:txBody>
          <a:bodyPr wrap="square" lIns="0" tIns="0" rIns="0" bIns="0" rtlCol="0" anchor="ctr"/>
          <a:lstStyle/>
          <a:p>
            <a:pPr algn="ctr" indent="0" marL="0">
              <a:buNone/>
            </a:pPr>
            <a:r>
              <a:rPr lang="en-US" sz="1400" b="1" dirty="0">
                <a:solidFill>
                  <a:srgbClr val="0F1F3D"/>
                </a:solidFill>
              </a:rPr>
              <a:t>Tag</a:t>
            </a:r>
            <a:endParaRPr lang="en-US" sz="1400" dirty="0"/>
          </a:p>
        </p:txBody>
      </p:sp>
      <p:sp>
        <p:nvSpPr>
          <p:cNvPr id="21" name="Text 19"/>
          <p:cNvSpPr/>
          <p:nvPr/>
        </p:nvSpPr>
        <p:spPr>
          <a:xfrm>
            <a:off x="2130552" y="2816352"/>
            <a:ext cx="1325880" cy="1508760"/>
          </a:xfrm>
          <a:prstGeom prst="rect">
            <a:avLst/>
          </a:prstGeom>
          <a:noFill/>
          <a:ln/>
        </p:spPr>
        <p:txBody>
          <a:bodyPr wrap="square" lIns="0" tIns="0" rIns="0" bIns="0" rtlCol="0" anchor="ctr"/>
          <a:lstStyle/>
          <a:p>
            <a:pPr algn="ctr" indent="0" marL="0">
              <a:buNone/>
            </a:pPr>
            <a:r>
              <a:rPr lang="en-US" sz="1050" dirty="0">
                <a:solidFill>
                  <a:srgbClr val="8898A8"/>
                </a:solidFill>
              </a:rPr>
              <a:t>Topic · Format</a:t>
            </a:r>
            <a:endParaRPr lang="en-US" sz="1050" dirty="0"/>
          </a:p>
          <a:p>
            <a:pPr algn="ctr" indent="0" marL="0">
              <a:buNone/>
            </a:pPr>
            <a:r>
              <a:rPr lang="en-US" sz="1050" dirty="0">
                <a:solidFill>
                  <a:srgbClr val="8898A8"/>
                </a:solidFill>
              </a:rPr>
              <a:t>Hook · Day</a:t>
            </a:r>
            <a:endParaRPr lang="en-US" sz="1050" dirty="0"/>
          </a:p>
          <a:p>
            <a:pPr algn="ctr" indent="0" marL="0">
              <a:buNone/>
            </a:pPr>
            <a:r>
              <a:rPr lang="en-US" sz="1050" dirty="0">
                <a:solidFill>
                  <a:srgbClr val="8898A8"/>
                </a:solidFill>
              </a:rPr>
              <a:t>Time of day</a:t>
            </a:r>
            <a:endParaRPr lang="en-US" sz="1050" dirty="0"/>
          </a:p>
        </p:txBody>
      </p:sp>
      <p:sp>
        <p:nvSpPr>
          <p:cNvPr id="22" name="Shape 20"/>
          <p:cNvSpPr/>
          <p:nvPr/>
        </p:nvSpPr>
        <p:spPr>
          <a:xfrm>
            <a:off x="5248656" y="2286000"/>
            <a:ext cx="228600" cy="54864"/>
          </a:xfrm>
          <a:prstGeom prst="rect">
            <a:avLst/>
          </a:prstGeom>
          <a:solidFill>
            <a:srgbClr val="8898A8"/>
          </a:solidFill>
          <a:ln w="12700">
            <a:solidFill>
              <a:srgbClr val="8898A8"/>
            </a:solidFill>
            <a:prstDash val="solid"/>
          </a:ln>
        </p:spPr>
      </p:sp>
      <p:sp>
        <p:nvSpPr>
          <p:cNvPr id="23" name="Text 21"/>
          <p:cNvSpPr/>
          <p:nvPr/>
        </p:nvSpPr>
        <p:spPr>
          <a:xfrm>
            <a:off x="5221224" y="2176272"/>
            <a:ext cx="274320" cy="219456"/>
          </a:xfrm>
          <a:prstGeom prst="rect">
            <a:avLst/>
          </a:prstGeom>
          <a:noFill/>
          <a:ln/>
        </p:spPr>
        <p:txBody>
          <a:bodyPr wrap="square" lIns="0" tIns="0" rIns="0" bIns="0" rtlCol="0" anchor="ctr"/>
          <a:lstStyle/>
          <a:p>
            <a:pPr algn="ctr" indent="0" marL="0">
              <a:buNone/>
            </a:pPr>
            <a:r>
              <a:rPr lang="en-US" sz="1100" dirty="0">
                <a:solidFill>
                  <a:srgbClr val="8898A8"/>
                </a:solidFill>
              </a:rPr>
              <a:t>▶</a:t>
            </a:r>
            <a:endParaRPr lang="en-US" sz="1100" dirty="0"/>
          </a:p>
        </p:txBody>
      </p:sp>
      <p:sp>
        <p:nvSpPr>
          <p:cNvPr id="24" name="Shape 22"/>
          <p:cNvSpPr/>
          <p:nvPr/>
        </p:nvSpPr>
        <p:spPr>
          <a:xfrm>
            <a:off x="3758184" y="1298448"/>
            <a:ext cx="1508760" cy="33375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25" name="Shape 23"/>
          <p:cNvSpPr/>
          <p:nvPr/>
        </p:nvSpPr>
        <p:spPr>
          <a:xfrm>
            <a:off x="3758184" y="1298448"/>
            <a:ext cx="1508760" cy="73152"/>
          </a:xfrm>
          <a:prstGeom prst="rect">
            <a:avLst/>
          </a:prstGeom>
          <a:solidFill>
            <a:srgbClr val="1A5FA8"/>
          </a:solidFill>
          <a:ln w="12700">
            <a:solidFill>
              <a:srgbClr val="1A5FA8"/>
            </a:solidFill>
            <a:prstDash val="solid"/>
          </a:ln>
        </p:spPr>
      </p:sp>
      <p:sp>
        <p:nvSpPr>
          <p:cNvPr id="26" name="Shape 24"/>
          <p:cNvSpPr/>
          <p:nvPr/>
        </p:nvSpPr>
        <p:spPr>
          <a:xfrm>
            <a:off x="4251960" y="1408176"/>
            <a:ext cx="521208" cy="521208"/>
          </a:xfrm>
          <a:prstGeom prst="ellipse">
            <a:avLst/>
          </a:prstGeom>
          <a:solidFill>
            <a:srgbClr val="1A5FA8"/>
          </a:solidFill>
          <a:ln w="12700">
            <a:solidFill>
              <a:srgbClr val="1A5FA8"/>
            </a:solidFill>
            <a:prstDash val="solid"/>
          </a:ln>
        </p:spPr>
      </p:sp>
      <p:sp>
        <p:nvSpPr>
          <p:cNvPr id="27" name="Text 25"/>
          <p:cNvSpPr/>
          <p:nvPr/>
        </p:nvSpPr>
        <p:spPr>
          <a:xfrm>
            <a:off x="4251960" y="1408176"/>
            <a:ext cx="521208" cy="521208"/>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28" name="Text 26"/>
          <p:cNvSpPr/>
          <p:nvPr/>
        </p:nvSpPr>
        <p:spPr>
          <a:xfrm>
            <a:off x="3758184" y="2011680"/>
            <a:ext cx="15087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3758184" y="2423160"/>
            <a:ext cx="1508760" cy="347472"/>
          </a:xfrm>
          <a:prstGeom prst="rect">
            <a:avLst/>
          </a:prstGeom>
          <a:noFill/>
          <a:ln/>
        </p:spPr>
        <p:txBody>
          <a:bodyPr wrap="square" lIns="0" tIns="0" rIns="0" bIns="0" rtlCol="0" anchor="ctr"/>
          <a:lstStyle/>
          <a:p>
            <a:pPr algn="ctr" indent="0" marL="0">
              <a:buNone/>
            </a:pPr>
            <a:r>
              <a:rPr lang="en-US" sz="1400" b="1" dirty="0">
                <a:solidFill>
                  <a:srgbClr val="0F1F3D"/>
                </a:solidFill>
              </a:rPr>
              <a:t>Model</a:t>
            </a:r>
            <a:endParaRPr lang="en-US" sz="1400" dirty="0"/>
          </a:p>
        </p:txBody>
      </p:sp>
      <p:sp>
        <p:nvSpPr>
          <p:cNvPr id="30" name="Text 28"/>
          <p:cNvSpPr/>
          <p:nvPr/>
        </p:nvSpPr>
        <p:spPr>
          <a:xfrm>
            <a:off x="3849624" y="2816352"/>
            <a:ext cx="1325880" cy="1508760"/>
          </a:xfrm>
          <a:prstGeom prst="rect">
            <a:avLst/>
          </a:prstGeom>
          <a:noFill/>
          <a:ln/>
        </p:spPr>
        <p:txBody>
          <a:bodyPr wrap="square" lIns="0" tIns="0" rIns="0" bIns="0" rtlCol="0" anchor="ctr"/>
          <a:lstStyle/>
          <a:p>
            <a:pPr algn="ctr" indent="0" marL="0">
              <a:buNone/>
            </a:pPr>
            <a:r>
              <a:rPr lang="en-US" sz="1050" dirty="0">
                <a:solidFill>
                  <a:srgbClr val="8898A8"/>
                </a:solidFill>
              </a:rPr>
              <a:t>OLS regression</a:t>
            </a:r>
            <a:endParaRPr lang="en-US" sz="1050" dirty="0"/>
          </a:p>
          <a:p>
            <a:pPr algn="ctr" indent="0" marL="0">
              <a:buNone/>
            </a:pPr>
            <a:r>
              <a:rPr lang="en-US" sz="1050" dirty="0">
                <a:solidFill>
                  <a:srgbClr val="8898A8"/>
                </a:solidFill>
              </a:rPr>
              <a:t>+ gradient boost</a:t>
            </a:r>
            <a:endParaRPr lang="en-US" sz="1050" dirty="0"/>
          </a:p>
          <a:p>
            <a:pPr algn="ctr" indent="0" marL="0">
              <a:buNone/>
            </a:pPr>
            <a:r>
              <a:rPr lang="en-US" sz="1050" dirty="0">
                <a:solidFill>
                  <a:srgbClr val="8898A8"/>
                </a:solidFill>
              </a:rPr>
              <a:t>predict engagement</a:t>
            </a:r>
            <a:endParaRPr lang="en-US" sz="1050" dirty="0"/>
          </a:p>
        </p:txBody>
      </p:sp>
      <p:sp>
        <p:nvSpPr>
          <p:cNvPr id="31" name="Shape 29"/>
          <p:cNvSpPr/>
          <p:nvPr/>
        </p:nvSpPr>
        <p:spPr>
          <a:xfrm>
            <a:off x="6967728" y="2286000"/>
            <a:ext cx="228600" cy="54864"/>
          </a:xfrm>
          <a:prstGeom prst="rect">
            <a:avLst/>
          </a:prstGeom>
          <a:solidFill>
            <a:srgbClr val="8898A8"/>
          </a:solidFill>
          <a:ln w="12700">
            <a:solidFill>
              <a:srgbClr val="8898A8"/>
            </a:solidFill>
            <a:prstDash val="solid"/>
          </a:ln>
        </p:spPr>
      </p:sp>
      <p:sp>
        <p:nvSpPr>
          <p:cNvPr id="32" name="Text 30"/>
          <p:cNvSpPr/>
          <p:nvPr/>
        </p:nvSpPr>
        <p:spPr>
          <a:xfrm>
            <a:off x="6940296" y="2176272"/>
            <a:ext cx="274320" cy="219456"/>
          </a:xfrm>
          <a:prstGeom prst="rect">
            <a:avLst/>
          </a:prstGeom>
          <a:noFill/>
          <a:ln/>
        </p:spPr>
        <p:txBody>
          <a:bodyPr wrap="square" lIns="0" tIns="0" rIns="0" bIns="0" rtlCol="0" anchor="ctr"/>
          <a:lstStyle/>
          <a:p>
            <a:pPr algn="ctr" indent="0" marL="0">
              <a:buNone/>
            </a:pPr>
            <a:r>
              <a:rPr lang="en-US" sz="1100" dirty="0">
                <a:solidFill>
                  <a:srgbClr val="8898A8"/>
                </a:solidFill>
              </a:rPr>
              <a:t>▶</a:t>
            </a:r>
            <a:endParaRPr lang="en-US" sz="1100" dirty="0"/>
          </a:p>
        </p:txBody>
      </p:sp>
      <p:sp>
        <p:nvSpPr>
          <p:cNvPr id="33" name="Shape 31"/>
          <p:cNvSpPr/>
          <p:nvPr/>
        </p:nvSpPr>
        <p:spPr>
          <a:xfrm>
            <a:off x="5477256" y="1298448"/>
            <a:ext cx="1508760" cy="33375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34" name="Shape 32"/>
          <p:cNvSpPr/>
          <p:nvPr/>
        </p:nvSpPr>
        <p:spPr>
          <a:xfrm>
            <a:off x="5477256" y="1298448"/>
            <a:ext cx="1508760" cy="73152"/>
          </a:xfrm>
          <a:prstGeom prst="rect">
            <a:avLst/>
          </a:prstGeom>
          <a:solidFill>
            <a:srgbClr val="0D9488"/>
          </a:solidFill>
          <a:ln w="12700">
            <a:solidFill>
              <a:srgbClr val="0D9488"/>
            </a:solidFill>
            <a:prstDash val="solid"/>
          </a:ln>
        </p:spPr>
      </p:sp>
      <p:sp>
        <p:nvSpPr>
          <p:cNvPr id="35" name="Shape 33"/>
          <p:cNvSpPr/>
          <p:nvPr/>
        </p:nvSpPr>
        <p:spPr>
          <a:xfrm>
            <a:off x="5971032" y="1408176"/>
            <a:ext cx="521208" cy="521208"/>
          </a:xfrm>
          <a:prstGeom prst="ellipse">
            <a:avLst/>
          </a:prstGeom>
          <a:solidFill>
            <a:srgbClr val="0D9488"/>
          </a:solidFill>
          <a:ln w="12700">
            <a:solidFill>
              <a:srgbClr val="0D9488"/>
            </a:solidFill>
            <a:prstDash val="solid"/>
          </a:ln>
        </p:spPr>
      </p:sp>
      <p:sp>
        <p:nvSpPr>
          <p:cNvPr id="36" name="Text 34"/>
          <p:cNvSpPr/>
          <p:nvPr/>
        </p:nvSpPr>
        <p:spPr>
          <a:xfrm>
            <a:off x="5971032" y="1408176"/>
            <a:ext cx="521208" cy="521208"/>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37" name="Text 35"/>
          <p:cNvSpPr/>
          <p:nvPr/>
        </p:nvSpPr>
        <p:spPr>
          <a:xfrm>
            <a:off x="5477256" y="2011680"/>
            <a:ext cx="15087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8" name="Text 36"/>
          <p:cNvSpPr/>
          <p:nvPr/>
        </p:nvSpPr>
        <p:spPr>
          <a:xfrm>
            <a:off x="5477256" y="2423160"/>
            <a:ext cx="1508760" cy="347472"/>
          </a:xfrm>
          <a:prstGeom prst="rect">
            <a:avLst/>
          </a:prstGeom>
          <a:noFill/>
          <a:ln/>
        </p:spPr>
        <p:txBody>
          <a:bodyPr wrap="square" lIns="0" tIns="0" rIns="0" bIns="0" rtlCol="0" anchor="ctr"/>
          <a:lstStyle/>
          <a:p>
            <a:pPr algn="ctr" indent="0" marL="0">
              <a:buNone/>
            </a:pPr>
            <a:r>
              <a:rPr lang="en-US" sz="1400" b="1" dirty="0">
                <a:solidFill>
                  <a:srgbClr val="0F1F3D"/>
                </a:solidFill>
              </a:rPr>
              <a:t>Generate</a:t>
            </a:r>
            <a:endParaRPr lang="en-US" sz="1400" dirty="0"/>
          </a:p>
        </p:txBody>
      </p:sp>
      <p:sp>
        <p:nvSpPr>
          <p:cNvPr id="39" name="Text 37"/>
          <p:cNvSpPr/>
          <p:nvPr/>
        </p:nvSpPr>
        <p:spPr>
          <a:xfrm>
            <a:off x="5568696" y="2816352"/>
            <a:ext cx="1325880" cy="1508760"/>
          </a:xfrm>
          <a:prstGeom prst="rect">
            <a:avLst/>
          </a:prstGeom>
          <a:noFill/>
          <a:ln/>
        </p:spPr>
        <p:txBody>
          <a:bodyPr wrap="square" lIns="0" tIns="0" rIns="0" bIns="0" rtlCol="0" anchor="ctr"/>
          <a:lstStyle/>
          <a:p>
            <a:pPr algn="ctr" indent="0" marL="0">
              <a:buNone/>
            </a:pPr>
            <a:r>
              <a:rPr lang="en-US" sz="1050" dirty="0">
                <a:solidFill>
                  <a:srgbClr val="8898A8"/>
                </a:solidFill>
              </a:rPr>
              <a:t>LLM conditioned</a:t>
            </a:r>
            <a:endParaRPr lang="en-US" sz="1050" dirty="0"/>
          </a:p>
          <a:p>
            <a:pPr algn="ctr" indent="0" marL="0">
              <a:buNone/>
            </a:pPr>
            <a:r>
              <a:rPr lang="en-US" sz="1050" dirty="0">
                <a:solidFill>
                  <a:srgbClr val="8898A8"/>
                </a:solidFill>
              </a:rPr>
              <a:t>on top-scoring</a:t>
            </a:r>
            <a:endParaRPr lang="en-US" sz="1050" dirty="0"/>
          </a:p>
          <a:p>
            <a:pPr algn="ctr" indent="0" marL="0">
              <a:buNone/>
            </a:pPr>
            <a:r>
              <a:rPr lang="en-US" sz="1050" dirty="0">
                <a:solidFill>
                  <a:srgbClr val="8898A8"/>
                </a:solidFill>
              </a:rPr>
              <a:t>combinations</a:t>
            </a:r>
            <a:endParaRPr lang="en-US" sz="1050" dirty="0"/>
          </a:p>
        </p:txBody>
      </p:sp>
      <p:sp>
        <p:nvSpPr>
          <p:cNvPr id="40" name="Shape 38"/>
          <p:cNvSpPr/>
          <p:nvPr/>
        </p:nvSpPr>
        <p:spPr>
          <a:xfrm>
            <a:off x="7196328" y="1298448"/>
            <a:ext cx="1508760" cy="333756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41" name="Shape 39"/>
          <p:cNvSpPr/>
          <p:nvPr/>
        </p:nvSpPr>
        <p:spPr>
          <a:xfrm>
            <a:off x="7196328" y="1298448"/>
            <a:ext cx="1508760" cy="73152"/>
          </a:xfrm>
          <a:prstGeom prst="rect">
            <a:avLst/>
          </a:prstGeom>
          <a:solidFill>
            <a:srgbClr val="F5A623"/>
          </a:solidFill>
          <a:ln w="12700">
            <a:solidFill>
              <a:srgbClr val="F5A623"/>
            </a:solidFill>
            <a:prstDash val="solid"/>
          </a:ln>
        </p:spPr>
      </p:sp>
      <p:sp>
        <p:nvSpPr>
          <p:cNvPr id="42" name="Shape 40"/>
          <p:cNvSpPr/>
          <p:nvPr/>
        </p:nvSpPr>
        <p:spPr>
          <a:xfrm>
            <a:off x="7690104" y="1408176"/>
            <a:ext cx="521208" cy="521208"/>
          </a:xfrm>
          <a:prstGeom prst="ellipse">
            <a:avLst/>
          </a:prstGeom>
          <a:solidFill>
            <a:srgbClr val="F5A623"/>
          </a:solidFill>
          <a:ln w="12700">
            <a:solidFill>
              <a:srgbClr val="F5A623"/>
            </a:solidFill>
            <a:prstDash val="solid"/>
          </a:ln>
        </p:spPr>
      </p:sp>
      <p:sp>
        <p:nvSpPr>
          <p:cNvPr id="43" name="Text 41"/>
          <p:cNvSpPr/>
          <p:nvPr/>
        </p:nvSpPr>
        <p:spPr>
          <a:xfrm>
            <a:off x="7690104" y="1408176"/>
            <a:ext cx="521208" cy="521208"/>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44" name="Text 42"/>
          <p:cNvSpPr/>
          <p:nvPr/>
        </p:nvSpPr>
        <p:spPr>
          <a:xfrm>
            <a:off x="7196328" y="2011680"/>
            <a:ext cx="1508760" cy="384048"/>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45" name="Text 43"/>
          <p:cNvSpPr/>
          <p:nvPr/>
        </p:nvSpPr>
        <p:spPr>
          <a:xfrm>
            <a:off x="7196328" y="2423160"/>
            <a:ext cx="1508760" cy="347472"/>
          </a:xfrm>
          <a:prstGeom prst="rect">
            <a:avLst/>
          </a:prstGeom>
          <a:noFill/>
          <a:ln/>
        </p:spPr>
        <p:txBody>
          <a:bodyPr wrap="square" lIns="0" tIns="0" rIns="0" bIns="0" rtlCol="0" anchor="ctr"/>
          <a:lstStyle/>
          <a:p>
            <a:pPr algn="ctr" indent="0" marL="0">
              <a:buNone/>
            </a:pPr>
            <a:r>
              <a:rPr lang="en-US" sz="1400" b="1" dirty="0">
                <a:solidFill>
                  <a:srgbClr val="0F1F3D"/>
                </a:solidFill>
              </a:rPr>
              <a:t>Test</a:t>
            </a:r>
            <a:endParaRPr lang="en-US" sz="1400" dirty="0"/>
          </a:p>
        </p:txBody>
      </p:sp>
      <p:sp>
        <p:nvSpPr>
          <p:cNvPr id="46" name="Text 44"/>
          <p:cNvSpPr/>
          <p:nvPr/>
        </p:nvSpPr>
        <p:spPr>
          <a:xfrm>
            <a:off x="7287768" y="2816352"/>
            <a:ext cx="1325880" cy="1508760"/>
          </a:xfrm>
          <a:prstGeom prst="rect">
            <a:avLst/>
          </a:prstGeom>
          <a:noFill/>
          <a:ln/>
        </p:spPr>
        <p:txBody>
          <a:bodyPr wrap="square" lIns="0" tIns="0" rIns="0" bIns="0" rtlCol="0" anchor="ctr"/>
          <a:lstStyle/>
          <a:p>
            <a:pPr algn="ctr" indent="0" marL="0">
              <a:buNone/>
            </a:pPr>
            <a:r>
              <a:rPr lang="en-US" sz="1050" dirty="0">
                <a:solidFill>
                  <a:srgbClr val="8898A8"/>
                </a:solidFill>
              </a:rPr>
              <a:t>Bootstrap CI:</a:t>
            </a:r>
            <a:endParaRPr lang="en-US" sz="1050" dirty="0"/>
          </a:p>
          <a:p>
            <a:pPr algn="ctr" indent="0" marL="0">
              <a:buNone/>
            </a:pPr>
            <a:r>
              <a:rPr lang="en-US" sz="1050" dirty="0">
                <a:solidFill>
                  <a:srgbClr val="8898A8"/>
                </a:solidFill>
              </a:rPr>
              <a:t>does conditioning</a:t>
            </a:r>
            <a:endParaRPr lang="en-US" sz="1050" dirty="0"/>
          </a:p>
          <a:p>
            <a:pPr algn="ctr" indent="0" marL="0">
              <a:buNone/>
            </a:pPr>
            <a:r>
              <a:rPr lang="en-US" sz="1050" dirty="0">
                <a:solidFill>
                  <a:srgbClr val="8898A8"/>
                </a:solidFill>
              </a:rPr>
              <a:t>actually help?</a:t>
            </a:r>
            <a:endParaRPr lang="en-US" sz="1050" dirty="0"/>
          </a:p>
        </p:txBody>
      </p:sp>
      <p:sp>
        <p:nvSpPr>
          <p:cNvPr id="47" name="Text 45"/>
          <p:cNvSpPr/>
          <p:nvPr/>
        </p:nvSpPr>
        <p:spPr>
          <a:xfrm>
            <a:off x="457200" y="4663440"/>
            <a:ext cx="8229600" cy="201168"/>
          </a:xfrm>
          <a:prstGeom prst="rect">
            <a:avLst/>
          </a:prstGeom>
          <a:noFill/>
          <a:ln/>
        </p:spPr>
        <p:txBody>
          <a:bodyPr wrap="square" lIns="0" tIns="0" rIns="0" bIns="0" rtlCol="0" anchor="ctr"/>
          <a:lstStyle/>
          <a:p>
            <a:pPr algn="ctr" indent="0" marL="0">
              <a:buNone/>
            </a:pPr>
            <a:r>
              <a:rPr lang="en-US" sz="1050" b="1" i="1" dirty="0">
                <a:solidFill>
                  <a:srgbClr val="1A5FA8"/>
                </a:solidFill>
              </a:rPr>
              <a:t>Strategy and generation in one pipeline — most tools only do one half.</a:t>
            </a:r>
            <a:endParaRPr lang="en-US" sz="1050" dirty="0"/>
          </a:p>
        </p:txBody>
      </p:sp>
      <p:sp>
        <p:nvSpPr>
          <p:cNvPr id="48" name="Shape 46"/>
          <p:cNvSpPr/>
          <p:nvPr/>
        </p:nvSpPr>
        <p:spPr>
          <a:xfrm>
            <a:off x="0" y="4846320"/>
            <a:ext cx="9144000" cy="297180"/>
          </a:xfrm>
          <a:prstGeom prst="rect">
            <a:avLst/>
          </a:prstGeom>
          <a:solidFill>
            <a:srgbClr val="0F1F3D"/>
          </a:solidFill>
          <a:ln w="12700">
            <a:solidFill>
              <a:srgbClr val="0F1F3D"/>
            </a:solidFill>
            <a:prstDash val="solid"/>
          </a:ln>
        </p:spPr>
      </p:sp>
      <p:sp>
        <p:nvSpPr>
          <p:cNvPr id="49" name="Text 47"/>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5 / 13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6ECDC4"/>
                </a:solidFill>
              </a:rPr>
              <a:t>DISCOVERY #1</a:t>
            </a:r>
            <a:endParaRPr lang="en-US" sz="950" dirty="0"/>
          </a:p>
        </p:txBody>
      </p:sp>
      <p:sp>
        <p:nvSpPr>
          <p:cNvPr id="3" name="Text 1"/>
          <p:cNvSpPr/>
          <p:nvPr/>
        </p:nvSpPr>
        <p:spPr>
          <a:xfrm>
            <a:off x="502920" y="475488"/>
            <a:ext cx="8229600" cy="1234440"/>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Not all content is created equal —</a:t>
            </a:r>
            <a:endParaRPr lang="en-US" sz="3400" dirty="0"/>
          </a:p>
          <a:p>
            <a:pPr algn="l" indent="0" marL="0">
              <a:buNone/>
            </a:pPr>
            <a:r>
              <a:rPr lang="en-US" sz="3400" b="1" dirty="0">
                <a:solidFill>
                  <a:srgbClr val="FFFFFF"/>
                </a:solidFill>
                <a:latin typeface="Georgia" pitchFamily="34" charset="0"/>
                <a:ea typeface="Georgia" pitchFamily="34" charset="-122"/>
                <a:cs typeface="Georgia" pitchFamily="34" charset="-120"/>
              </a:rPr>
              <a:t>and the data knows the difference.</a:t>
            </a:r>
            <a:endParaRPr lang="en-US" sz="3400" dirty="0"/>
          </a:p>
        </p:txBody>
      </p:sp>
      <p:pic>
        <p:nvPicPr>
          <p:cNvPr id="4" name="Image 0" descr="/sessions/exciting-friendly-hamilton/mnt/Bellevue University/DSC680/projects/project2-content-strategy-engine/figures/fig02_ols_coefficients.png">    </p:cNvPr>
          <p:cNvPicPr>
            <a:picLocks noChangeAspect="1"/>
          </p:cNvPicPr>
          <p:nvPr/>
        </p:nvPicPr>
        <p:blipFill>
          <a:blip r:embed="rId1"/>
          <a:stretch>
            <a:fillRect/>
          </a:stretch>
        </p:blipFill>
        <p:spPr>
          <a:xfrm>
            <a:off x="365760" y="1828800"/>
            <a:ext cx="4572000" cy="2743200"/>
          </a:xfrm>
          <a:prstGeom prst="rect">
            <a:avLst/>
          </a:prstGeom>
        </p:spPr>
      </p:pic>
      <p:sp>
        <p:nvSpPr>
          <p:cNvPr id="5" name="Shape 2"/>
          <p:cNvSpPr/>
          <p:nvPr/>
        </p:nvSpPr>
        <p:spPr>
          <a:xfrm>
            <a:off x="5166360" y="1828800"/>
            <a:ext cx="3657600" cy="594360"/>
          </a:xfrm>
          <a:prstGeom prst="rect">
            <a:avLst/>
          </a:prstGeom>
          <a:solidFill>
            <a:srgbClr val="FFFFFF">
              <a:alpha val="10000"/>
            </a:srgbClr>
          </a:solidFill>
          <a:ln/>
        </p:spPr>
      </p:sp>
      <p:sp>
        <p:nvSpPr>
          <p:cNvPr id="6" name="Text 3"/>
          <p:cNvSpPr/>
          <p:nvPr/>
        </p:nvSpPr>
        <p:spPr>
          <a:xfrm>
            <a:off x="5230368" y="1901952"/>
            <a:ext cx="457200" cy="457200"/>
          </a:xfrm>
          <a:prstGeom prst="rect">
            <a:avLst/>
          </a:prstGeom>
          <a:noFill/>
          <a:ln/>
        </p:spPr>
        <p:txBody>
          <a:bodyPr wrap="square" lIns="0" tIns="0" rIns="0" bIns="0" rtlCol="0" anchor="ctr"/>
          <a:lstStyle/>
          <a:p>
            <a:pPr algn="l" indent="0" marL="0">
              <a:buNone/>
            </a:pPr>
            <a:r>
              <a:rPr lang="en-US" sz="1800" b="1" dirty="0">
                <a:solidFill>
                  <a:srgbClr val="0D9488"/>
                </a:solidFill>
                <a:latin typeface="Georgia" pitchFamily="34" charset="0"/>
                <a:ea typeface="Georgia" pitchFamily="34" charset="-122"/>
                <a:cs typeface="Georgia" pitchFamily="34" charset="-120"/>
              </a:rPr>
              <a:t>01</a:t>
            </a:r>
            <a:endParaRPr lang="en-US" sz="1800" dirty="0"/>
          </a:p>
        </p:txBody>
      </p:sp>
      <p:sp>
        <p:nvSpPr>
          <p:cNvPr id="7" name="Text 4"/>
          <p:cNvSpPr/>
          <p:nvPr/>
        </p:nvSpPr>
        <p:spPr>
          <a:xfrm>
            <a:off x="5742432" y="1901952"/>
            <a:ext cx="2971800" cy="457200"/>
          </a:xfrm>
          <a:prstGeom prst="rect">
            <a:avLst/>
          </a:prstGeom>
          <a:noFill/>
          <a:ln/>
        </p:spPr>
        <p:txBody>
          <a:bodyPr wrap="square" lIns="0" tIns="0" rIns="0" bIns="0" rtlCol="0" anchor="ctr"/>
          <a:lstStyle/>
          <a:p>
            <a:pPr algn="l" indent="0" marL="0">
              <a:buNone/>
            </a:pPr>
            <a:r>
              <a:rPr lang="en-US" sz="1050" dirty="0">
                <a:solidFill>
                  <a:srgbClr val="FFFFFF"/>
                </a:solidFill>
              </a:rPr>
              <a:t>Recovery, sleep &amp; mental health topics</a:t>
            </a:r>
            <a:endParaRPr lang="en-US" sz="1050" dirty="0"/>
          </a:p>
          <a:p>
            <a:pPr algn="l" indent="0" marL="0">
              <a:buNone/>
            </a:pPr>
            <a:r>
              <a:rPr lang="en-US" sz="1050" dirty="0">
                <a:solidFill>
                  <a:srgbClr val="FFFFFF"/>
                </a:solidFill>
              </a:rPr>
              <a:t>consistently outperform the rest</a:t>
            </a:r>
            <a:endParaRPr lang="en-US" sz="1050" dirty="0"/>
          </a:p>
        </p:txBody>
      </p:sp>
      <p:sp>
        <p:nvSpPr>
          <p:cNvPr id="8" name="Shape 5"/>
          <p:cNvSpPr/>
          <p:nvPr/>
        </p:nvSpPr>
        <p:spPr>
          <a:xfrm>
            <a:off x="5166360" y="2523744"/>
            <a:ext cx="3657600" cy="594360"/>
          </a:xfrm>
          <a:prstGeom prst="rect">
            <a:avLst/>
          </a:prstGeom>
          <a:solidFill>
            <a:srgbClr val="FFFFFF">
              <a:alpha val="10000"/>
            </a:srgbClr>
          </a:solidFill>
          <a:ln/>
        </p:spPr>
      </p:sp>
      <p:sp>
        <p:nvSpPr>
          <p:cNvPr id="9" name="Text 6"/>
          <p:cNvSpPr/>
          <p:nvPr/>
        </p:nvSpPr>
        <p:spPr>
          <a:xfrm>
            <a:off x="5230368" y="2596896"/>
            <a:ext cx="457200" cy="457200"/>
          </a:xfrm>
          <a:prstGeom prst="rect">
            <a:avLst/>
          </a:prstGeom>
          <a:noFill/>
          <a:ln/>
        </p:spPr>
        <p:txBody>
          <a:bodyPr wrap="square" lIns="0" tIns="0" rIns="0" bIns="0" rtlCol="0" anchor="ctr"/>
          <a:lstStyle/>
          <a:p>
            <a:pPr algn="l" indent="0" marL="0">
              <a:buNone/>
            </a:pPr>
            <a:r>
              <a:rPr lang="en-US" sz="1800" b="1" dirty="0">
                <a:solidFill>
                  <a:srgbClr val="F5A623"/>
                </a:solidFill>
                <a:latin typeface="Georgia" pitchFamily="34" charset="0"/>
                <a:ea typeface="Georgia" pitchFamily="34" charset="-122"/>
                <a:cs typeface="Georgia" pitchFamily="34" charset="-120"/>
              </a:rPr>
              <a:t>02</a:t>
            </a:r>
            <a:endParaRPr lang="en-US" sz="1800" dirty="0"/>
          </a:p>
        </p:txBody>
      </p:sp>
      <p:sp>
        <p:nvSpPr>
          <p:cNvPr id="10" name="Text 7"/>
          <p:cNvSpPr/>
          <p:nvPr/>
        </p:nvSpPr>
        <p:spPr>
          <a:xfrm>
            <a:off x="5742432" y="2596896"/>
            <a:ext cx="2971800" cy="457200"/>
          </a:xfrm>
          <a:prstGeom prst="rect">
            <a:avLst/>
          </a:prstGeom>
          <a:noFill/>
          <a:ln/>
        </p:spPr>
        <p:txBody>
          <a:bodyPr wrap="square" lIns="0" tIns="0" rIns="0" bIns="0" rtlCol="0" anchor="ctr"/>
          <a:lstStyle/>
          <a:p>
            <a:pPr algn="l" indent="0" marL="0">
              <a:buNone/>
            </a:pPr>
            <a:r>
              <a:rPr lang="en-US" sz="1050" dirty="0">
                <a:solidFill>
                  <a:srgbClr val="FFFFFF"/>
                </a:solidFill>
              </a:rPr>
              <a:t>Question &amp; contrarian hooks beat</a:t>
            </a:r>
            <a:endParaRPr lang="en-US" sz="1050" dirty="0"/>
          </a:p>
          <a:p>
            <a:pPr algn="l" indent="0" marL="0">
              <a:buNone/>
            </a:pPr>
            <a:r>
              <a:rPr lang="en-US" sz="1050" dirty="0">
                <a:solidFill>
                  <a:srgbClr val="FFFFFF"/>
                </a:solidFill>
              </a:rPr>
              <a:t>direct openers every time</a:t>
            </a:r>
            <a:endParaRPr lang="en-US" sz="1050" dirty="0"/>
          </a:p>
        </p:txBody>
      </p:sp>
      <p:sp>
        <p:nvSpPr>
          <p:cNvPr id="11" name="Shape 8"/>
          <p:cNvSpPr/>
          <p:nvPr/>
        </p:nvSpPr>
        <p:spPr>
          <a:xfrm>
            <a:off x="5166360" y="3218688"/>
            <a:ext cx="3657600" cy="594360"/>
          </a:xfrm>
          <a:prstGeom prst="rect">
            <a:avLst/>
          </a:prstGeom>
          <a:solidFill>
            <a:srgbClr val="FFFFFF">
              <a:alpha val="10000"/>
            </a:srgbClr>
          </a:solidFill>
          <a:ln/>
        </p:spPr>
      </p:sp>
      <p:sp>
        <p:nvSpPr>
          <p:cNvPr id="12" name="Text 9"/>
          <p:cNvSpPr/>
          <p:nvPr/>
        </p:nvSpPr>
        <p:spPr>
          <a:xfrm>
            <a:off x="5230368" y="3291840"/>
            <a:ext cx="457200" cy="457200"/>
          </a:xfrm>
          <a:prstGeom prst="rect">
            <a:avLst/>
          </a:prstGeom>
          <a:noFill/>
          <a:ln/>
        </p:spPr>
        <p:txBody>
          <a:bodyPr wrap="square" lIns="0" tIns="0" rIns="0" bIns="0" rtlCol="0" anchor="ctr"/>
          <a:lstStyle/>
          <a:p>
            <a:pPr algn="l" indent="0" marL="0">
              <a:buNone/>
            </a:pPr>
            <a:r>
              <a:rPr lang="en-US" sz="1800" b="1" dirty="0">
                <a:solidFill>
                  <a:srgbClr val="0D9488"/>
                </a:solidFill>
                <a:latin typeface="Georgia" pitchFamily="34" charset="0"/>
                <a:ea typeface="Georgia" pitchFamily="34" charset="-122"/>
                <a:cs typeface="Georgia" pitchFamily="34" charset="-120"/>
              </a:rPr>
              <a:t>03</a:t>
            </a:r>
            <a:endParaRPr lang="en-US" sz="1800" dirty="0"/>
          </a:p>
        </p:txBody>
      </p:sp>
      <p:sp>
        <p:nvSpPr>
          <p:cNvPr id="13" name="Text 10"/>
          <p:cNvSpPr/>
          <p:nvPr/>
        </p:nvSpPr>
        <p:spPr>
          <a:xfrm>
            <a:off x="5742432" y="3291840"/>
            <a:ext cx="2971800" cy="457200"/>
          </a:xfrm>
          <a:prstGeom prst="rect">
            <a:avLst/>
          </a:prstGeom>
          <a:noFill/>
          <a:ln/>
        </p:spPr>
        <p:txBody>
          <a:bodyPr wrap="square" lIns="0" tIns="0" rIns="0" bIns="0" rtlCol="0" anchor="ctr"/>
          <a:lstStyle/>
          <a:p>
            <a:pPr algn="l" indent="0" marL="0">
              <a:buNone/>
            </a:pPr>
            <a:r>
              <a:rPr lang="en-US" sz="1050" dirty="0">
                <a:solidFill>
                  <a:srgbClr val="FFFFFF"/>
                </a:solidFill>
              </a:rPr>
              <a:t>How-to &amp; case-study formats</a:t>
            </a:r>
            <a:endParaRPr lang="en-US" sz="1050" dirty="0"/>
          </a:p>
          <a:p>
            <a:pPr algn="l" indent="0" marL="0">
              <a:buNone/>
            </a:pPr>
            <a:r>
              <a:rPr lang="en-US" sz="1050" dirty="0">
                <a:solidFill>
                  <a:srgbClr val="FFFFFF"/>
                </a:solidFill>
              </a:rPr>
              <a:t>outperform listicles</a:t>
            </a:r>
            <a:endParaRPr lang="en-US" sz="1050" dirty="0"/>
          </a:p>
        </p:txBody>
      </p:sp>
      <p:sp>
        <p:nvSpPr>
          <p:cNvPr id="14" name="Shape 11"/>
          <p:cNvSpPr/>
          <p:nvPr/>
        </p:nvSpPr>
        <p:spPr>
          <a:xfrm>
            <a:off x="5166360" y="3913632"/>
            <a:ext cx="3657600" cy="594360"/>
          </a:xfrm>
          <a:prstGeom prst="rect">
            <a:avLst/>
          </a:prstGeom>
          <a:solidFill>
            <a:srgbClr val="FFFFFF">
              <a:alpha val="10000"/>
            </a:srgbClr>
          </a:solidFill>
          <a:ln/>
        </p:spPr>
      </p:sp>
      <p:sp>
        <p:nvSpPr>
          <p:cNvPr id="15" name="Text 12"/>
          <p:cNvSpPr/>
          <p:nvPr/>
        </p:nvSpPr>
        <p:spPr>
          <a:xfrm>
            <a:off x="5230368" y="3986784"/>
            <a:ext cx="457200" cy="457200"/>
          </a:xfrm>
          <a:prstGeom prst="rect">
            <a:avLst/>
          </a:prstGeom>
          <a:noFill/>
          <a:ln/>
        </p:spPr>
        <p:txBody>
          <a:bodyPr wrap="square" lIns="0" tIns="0" rIns="0" bIns="0" rtlCol="0" anchor="ctr"/>
          <a:lstStyle/>
          <a:p>
            <a:pPr algn="l" indent="0" marL="0">
              <a:buNone/>
            </a:pPr>
            <a:r>
              <a:rPr lang="en-US" sz="1800" b="1" dirty="0">
                <a:solidFill>
                  <a:srgbClr val="F5A623"/>
                </a:solidFill>
                <a:latin typeface="Georgia" pitchFamily="34" charset="0"/>
                <a:ea typeface="Georgia" pitchFamily="34" charset="-122"/>
                <a:cs typeface="Georgia" pitchFamily="34" charset="-120"/>
              </a:rPr>
              <a:t>04</a:t>
            </a:r>
            <a:endParaRPr lang="en-US" sz="1800" dirty="0"/>
          </a:p>
        </p:txBody>
      </p:sp>
      <p:sp>
        <p:nvSpPr>
          <p:cNvPr id="16" name="Text 13"/>
          <p:cNvSpPr/>
          <p:nvPr/>
        </p:nvSpPr>
        <p:spPr>
          <a:xfrm>
            <a:off x="5742432" y="3986784"/>
            <a:ext cx="2971800" cy="457200"/>
          </a:xfrm>
          <a:prstGeom prst="rect">
            <a:avLst/>
          </a:prstGeom>
          <a:noFill/>
          <a:ln/>
        </p:spPr>
        <p:txBody>
          <a:bodyPr wrap="square" lIns="0" tIns="0" rIns="0" bIns="0" rtlCol="0" anchor="ctr"/>
          <a:lstStyle/>
          <a:p>
            <a:pPr algn="l" indent="0" marL="0">
              <a:buNone/>
            </a:pPr>
            <a:r>
              <a:rPr lang="en-US" sz="1050" dirty="0">
                <a:solidFill>
                  <a:srgbClr val="FFFFFF"/>
                </a:solidFill>
              </a:rPr>
              <a:t>Tuesday–Thursday mornings are</a:t>
            </a:r>
            <a:endParaRPr lang="en-US" sz="1050" dirty="0"/>
          </a:p>
          <a:p>
            <a:pPr algn="l" indent="0" marL="0">
              <a:buNone/>
            </a:pPr>
            <a:r>
              <a:rPr lang="en-US" sz="1050" dirty="0">
                <a:solidFill>
                  <a:srgbClr val="FFFFFF"/>
                </a:solidFill>
              </a:rPr>
              <a:t>the peak engagement window</a:t>
            </a:r>
            <a:endParaRPr lang="en-US" sz="1050" dirty="0"/>
          </a:p>
        </p:txBody>
      </p:sp>
      <p:sp>
        <p:nvSpPr>
          <p:cNvPr id="17" name="Text 14"/>
          <p:cNvSpPr/>
          <p:nvPr/>
        </p:nvSpPr>
        <p:spPr>
          <a:xfrm>
            <a:off x="365760" y="4645152"/>
            <a:ext cx="4572000" cy="182880"/>
          </a:xfrm>
          <a:prstGeom prst="rect">
            <a:avLst/>
          </a:prstGeom>
          <a:noFill/>
          <a:ln/>
        </p:spPr>
        <p:txBody>
          <a:bodyPr wrap="square" lIns="0" tIns="0" rIns="0" bIns="0" rtlCol="0" anchor="ctr"/>
          <a:lstStyle/>
          <a:p>
            <a:pPr algn="l" indent="0" marL="0">
              <a:buNone/>
            </a:pPr>
            <a:r>
              <a:rPr lang="en-US" sz="850" i="1" dirty="0">
                <a:solidFill>
                  <a:srgbClr val="8898A8"/>
                </a:solidFill>
              </a:rPr>
              <a:t>OLS R² = 0.271  (27% of engagement explained on held-out data)</a:t>
            </a:r>
            <a:endParaRPr lang="en-US" sz="850" dirty="0"/>
          </a:p>
        </p:txBody>
      </p:sp>
      <p:sp>
        <p:nvSpPr>
          <p:cNvPr id="18" name="Shape 15"/>
          <p:cNvSpPr/>
          <p:nvPr/>
        </p:nvSpPr>
        <p:spPr>
          <a:xfrm>
            <a:off x="0" y="4846320"/>
            <a:ext cx="9144000" cy="297180"/>
          </a:xfrm>
          <a:prstGeom prst="rect">
            <a:avLst/>
          </a:prstGeom>
          <a:solidFill>
            <a:srgbClr val="0F1F3D"/>
          </a:solidFill>
          <a:ln w="12700">
            <a:solidFill>
              <a:srgbClr val="0F1F3D"/>
            </a:solidFill>
            <a:prstDash val="solid"/>
          </a:ln>
        </p:spPr>
      </p:sp>
      <p:sp>
        <p:nvSpPr>
          <p:cNvPr id="19" name="Text 16"/>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6 / 13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1A5FA8"/>
                </a:solidFill>
              </a:rPr>
              <a:t>DISCOVERY #2</a:t>
            </a:r>
            <a:endParaRPr lang="en-US" sz="950" dirty="0"/>
          </a:p>
        </p:txBody>
      </p:sp>
      <p:sp>
        <p:nvSpPr>
          <p:cNvPr id="3" name="Text 1"/>
          <p:cNvSpPr/>
          <p:nvPr/>
        </p:nvSpPr>
        <p:spPr>
          <a:xfrm>
            <a:off x="457200" y="475488"/>
            <a:ext cx="8229600" cy="1097280"/>
          </a:xfrm>
          <a:prstGeom prst="rect">
            <a:avLst/>
          </a:prstGeom>
          <a:noFill/>
          <a:ln/>
        </p:spPr>
        <p:txBody>
          <a:bodyPr wrap="square" lIns="0" tIns="0" rIns="0" bIns="0" rtlCol="0" anchor="ctr"/>
          <a:lstStyle/>
          <a:p>
            <a:pPr algn="l" indent="0" marL="0">
              <a:buNone/>
            </a:pPr>
            <a:r>
              <a:rPr lang="en-US" sz="3400" b="1" dirty="0">
                <a:solidFill>
                  <a:srgbClr val="0F1F3D"/>
                </a:solidFill>
                <a:latin typeface="Georgia" pitchFamily="34" charset="0"/>
                <a:ea typeface="Georgia" pitchFamily="34" charset="-122"/>
                <a:cs typeface="Georgia" pitchFamily="34" charset="-120"/>
              </a:rPr>
              <a:t>The winning combination isn't a secret.</a:t>
            </a:r>
            <a:endParaRPr lang="en-US" sz="3400" dirty="0"/>
          </a:p>
          <a:p>
            <a:pPr algn="l" indent="0" marL="0">
              <a:buNone/>
            </a:pPr>
            <a:r>
              <a:rPr lang="en-US" sz="3400" b="1" dirty="0">
                <a:solidFill>
                  <a:srgbClr val="0F1F3D"/>
                </a:solidFill>
                <a:latin typeface="Georgia" pitchFamily="34" charset="0"/>
                <a:ea typeface="Georgia" pitchFamily="34" charset="-122"/>
                <a:cs typeface="Georgia" pitchFamily="34" charset="-120"/>
              </a:rPr>
              <a:t>It's in the data.</a:t>
            </a:r>
            <a:endParaRPr lang="en-US" sz="3400" dirty="0"/>
          </a:p>
        </p:txBody>
      </p:sp>
      <p:pic>
        <p:nvPicPr>
          <p:cNvPr id="4" name="Image 0" descr="/sessions/exciting-friendly-hamilton/mnt/Bellevue University/DSC680/projects/project2-content-strategy-engine/figures/fig01_topic_format_heatmap.png">    </p:cNvPr>
          <p:cNvPicPr>
            <a:picLocks noChangeAspect="1"/>
          </p:cNvPicPr>
          <p:nvPr/>
        </p:nvPicPr>
        <p:blipFill>
          <a:blip r:embed="rId1"/>
          <a:stretch>
            <a:fillRect/>
          </a:stretch>
        </p:blipFill>
        <p:spPr>
          <a:xfrm>
            <a:off x="365760" y="1664208"/>
            <a:ext cx="4754880" cy="2926080"/>
          </a:xfrm>
          <a:prstGeom prst="rect">
            <a:avLst/>
          </a:prstGeom>
        </p:spPr>
      </p:pic>
      <p:sp>
        <p:nvSpPr>
          <p:cNvPr id="5" name="Text 2"/>
          <p:cNvSpPr/>
          <p:nvPr/>
        </p:nvSpPr>
        <p:spPr>
          <a:xfrm>
            <a:off x="5349240" y="1691640"/>
            <a:ext cx="3383280" cy="347472"/>
          </a:xfrm>
          <a:prstGeom prst="rect">
            <a:avLst/>
          </a:prstGeom>
          <a:noFill/>
          <a:ln/>
        </p:spPr>
        <p:txBody>
          <a:bodyPr wrap="square" lIns="0" tIns="0" rIns="0" bIns="0" rtlCol="0" anchor="ctr"/>
          <a:lstStyle/>
          <a:p>
            <a:pPr algn="l" indent="0" marL="0">
              <a:buNone/>
            </a:pPr>
            <a:r>
              <a:rPr lang="en-US" sz="1400" b="1" dirty="0">
                <a:solidFill>
                  <a:srgbClr val="0F1F3D"/>
                </a:solidFill>
              </a:rPr>
              <a:t>🏆 The Top Combos</a:t>
            </a:r>
            <a:endParaRPr lang="en-US" sz="1400" dirty="0"/>
          </a:p>
        </p:txBody>
      </p:sp>
      <p:sp>
        <p:nvSpPr>
          <p:cNvPr id="6" name="Shape 3"/>
          <p:cNvSpPr/>
          <p:nvPr/>
        </p:nvSpPr>
        <p:spPr>
          <a:xfrm>
            <a:off x="5349240" y="2103120"/>
            <a:ext cx="3383280" cy="77724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7" name="Text 4"/>
          <p:cNvSpPr/>
          <p:nvPr/>
        </p:nvSpPr>
        <p:spPr>
          <a:xfrm>
            <a:off x="5394960" y="2194560"/>
            <a:ext cx="45720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5"/>
          <p:cNvSpPr/>
          <p:nvPr/>
        </p:nvSpPr>
        <p:spPr>
          <a:xfrm>
            <a:off x="5897880" y="2176272"/>
            <a:ext cx="2697480" cy="320040"/>
          </a:xfrm>
          <a:prstGeom prst="rect">
            <a:avLst/>
          </a:prstGeom>
          <a:noFill/>
          <a:ln/>
        </p:spPr>
        <p:txBody>
          <a:bodyPr wrap="square" lIns="0" tIns="0" rIns="0" bIns="0" rtlCol="0" anchor="ctr"/>
          <a:lstStyle/>
          <a:p>
            <a:pPr algn="l" indent="0" marL="0">
              <a:buNone/>
            </a:pPr>
            <a:r>
              <a:rPr lang="en-US" sz="1400" b="1" dirty="0">
                <a:solidFill>
                  <a:srgbClr val="0F1F3D"/>
                </a:solidFill>
              </a:rPr>
              <a:t>Recovery  +  How-To</a:t>
            </a:r>
            <a:endParaRPr lang="en-US" sz="1400" dirty="0"/>
          </a:p>
        </p:txBody>
      </p:sp>
      <p:sp>
        <p:nvSpPr>
          <p:cNvPr id="9" name="Text 6"/>
          <p:cNvSpPr/>
          <p:nvPr/>
        </p:nvSpPr>
        <p:spPr>
          <a:xfrm>
            <a:off x="5897880" y="2523744"/>
            <a:ext cx="2697480" cy="256032"/>
          </a:xfrm>
          <a:prstGeom prst="rect">
            <a:avLst/>
          </a:prstGeom>
          <a:noFill/>
          <a:ln/>
        </p:spPr>
        <p:txBody>
          <a:bodyPr wrap="square" lIns="0" tIns="0" rIns="0" bIns="0" rtlCol="0" anchor="ctr"/>
          <a:lstStyle/>
          <a:p>
            <a:pPr algn="l" indent="0" marL="0">
              <a:buNone/>
            </a:pPr>
            <a:r>
              <a:rPr lang="en-US" sz="1000" dirty="0">
                <a:solidFill>
                  <a:srgbClr val="8898A8"/>
                </a:solidFill>
              </a:rPr>
              <a:t>Highest predicted engagement</a:t>
            </a:r>
            <a:endParaRPr lang="en-US" sz="1000" dirty="0"/>
          </a:p>
        </p:txBody>
      </p:sp>
      <p:sp>
        <p:nvSpPr>
          <p:cNvPr id="10" name="Shape 7"/>
          <p:cNvSpPr/>
          <p:nvPr/>
        </p:nvSpPr>
        <p:spPr>
          <a:xfrm>
            <a:off x="5349240" y="2999232"/>
            <a:ext cx="3383280" cy="77724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1" name="Text 8"/>
          <p:cNvSpPr/>
          <p:nvPr/>
        </p:nvSpPr>
        <p:spPr>
          <a:xfrm>
            <a:off x="5394960" y="3090672"/>
            <a:ext cx="45720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9"/>
          <p:cNvSpPr/>
          <p:nvPr/>
        </p:nvSpPr>
        <p:spPr>
          <a:xfrm>
            <a:off x="5897880" y="3072384"/>
            <a:ext cx="2697480" cy="320040"/>
          </a:xfrm>
          <a:prstGeom prst="rect">
            <a:avLst/>
          </a:prstGeom>
          <a:noFill/>
          <a:ln/>
        </p:spPr>
        <p:txBody>
          <a:bodyPr wrap="square" lIns="0" tIns="0" rIns="0" bIns="0" rtlCol="0" anchor="ctr"/>
          <a:lstStyle/>
          <a:p>
            <a:pPr algn="l" indent="0" marL="0">
              <a:buNone/>
            </a:pPr>
            <a:r>
              <a:rPr lang="en-US" sz="1400" b="1" dirty="0">
                <a:solidFill>
                  <a:srgbClr val="0F1F3D"/>
                </a:solidFill>
              </a:rPr>
              <a:t>Mental  +  Case Study</a:t>
            </a:r>
            <a:endParaRPr lang="en-US" sz="1400" dirty="0"/>
          </a:p>
        </p:txBody>
      </p:sp>
      <p:sp>
        <p:nvSpPr>
          <p:cNvPr id="13" name="Text 10"/>
          <p:cNvSpPr/>
          <p:nvPr/>
        </p:nvSpPr>
        <p:spPr>
          <a:xfrm>
            <a:off x="5897880" y="3419856"/>
            <a:ext cx="2697480" cy="256032"/>
          </a:xfrm>
          <a:prstGeom prst="rect">
            <a:avLst/>
          </a:prstGeom>
          <a:noFill/>
          <a:ln/>
        </p:spPr>
        <p:txBody>
          <a:bodyPr wrap="square" lIns="0" tIns="0" rIns="0" bIns="0" rtlCol="0" anchor="ctr"/>
          <a:lstStyle/>
          <a:p>
            <a:pPr algn="l" indent="0" marL="0">
              <a:buNone/>
            </a:pPr>
            <a:r>
              <a:rPr lang="en-US" sz="1000" dirty="0">
                <a:solidFill>
                  <a:srgbClr val="8898A8"/>
                </a:solidFill>
              </a:rPr>
              <a:t>Strong ANOVA effect</a:t>
            </a:r>
            <a:endParaRPr lang="en-US" sz="1000" dirty="0"/>
          </a:p>
        </p:txBody>
      </p:sp>
      <p:sp>
        <p:nvSpPr>
          <p:cNvPr id="14" name="Shape 11"/>
          <p:cNvSpPr/>
          <p:nvPr/>
        </p:nvSpPr>
        <p:spPr>
          <a:xfrm>
            <a:off x="5349240" y="3895344"/>
            <a:ext cx="3383280" cy="77724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5" name="Text 12"/>
          <p:cNvSpPr/>
          <p:nvPr/>
        </p:nvSpPr>
        <p:spPr>
          <a:xfrm>
            <a:off x="5394960" y="3986784"/>
            <a:ext cx="457200" cy="5943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3"/>
          <p:cNvSpPr/>
          <p:nvPr/>
        </p:nvSpPr>
        <p:spPr>
          <a:xfrm>
            <a:off x="5897880" y="3968496"/>
            <a:ext cx="2697480" cy="320040"/>
          </a:xfrm>
          <a:prstGeom prst="rect">
            <a:avLst/>
          </a:prstGeom>
          <a:noFill/>
          <a:ln/>
        </p:spPr>
        <p:txBody>
          <a:bodyPr wrap="square" lIns="0" tIns="0" rIns="0" bIns="0" rtlCol="0" anchor="ctr"/>
          <a:lstStyle/>
          <a:p>
            <a:pPr algn="l" indent="0" marL="0">
              <a:buNone/>
            </a:pPr>
            <a:r>
              <a:rPr lang="en-US" sz="1400" b="1" dirty="0">
                <a:solidFill>
                  <a:srgbClr val="0F1F3D"/>
                </a:solidFill>
              </a:rPr>
              <a:t>Sleep  +  How-To</a:t>
            </a:r>
            <a:endParaRPr lang="en-US" sz="1400" dirty="0"/>
          </a:p>
        </p:txBody>
      </p:sp>
      <p:sp>
        <p:nvSpPr>
          <p:cNvPr id="17" name="Text 14"/>
          <p:cNvSpPr/>
          <p:nvPr/>
        </p:nvSpPr>
        <p:spPr>
          <a:xfrm>
            <a:off x="5897880" y="4315968"/>
            <a:ext cx="2697480" cy="256032"/>
          </a:xfrm>
          <a:prstGeom prst="rect">
            <a:avLst/>
          </a:prstGeom>
          <a:noFill/>
          <a:ln/>
        </p:spPr>
        <p:txBody>
          <a:bodyPr wrap="square" lIns="0" tIns="0" rIns="0" bIns="0" rtlCol="0" anchor="ctr"/>
          <a:lstStyle/>
          <a:p>
            <a:pPr algn="l" indent="0" marL="0">
              <a:buNone/>
            </a:pPr>
            <a:r>
              <a:rPr lang="en-US" sz="1000" dirty="0">
                <a:solidFill>
                  <a:srgbClr val="8898A8"/>
                </a:solidFill>
              </a:rPr>
              <a:t>Consistent performer</a:t>
            </a:r>
            <a:endParaRPr lang="en-US" sz="1000" dirty="0"/>
          </a:p>
        </p:txBody>
      </p:sp>
      <p:sp>
        <p:nvSpPr>
          <p:cNvPr id="18" name="Shape 15"/>
          <p:cNvSpPr/>
          <p:nvPr/>
        </p:nvSpPr>
        <p:spPr>
          <a:xfrm>
            <a:off x="5349240" y="4663440"/>
            <a:ext cx="3383280" cy="109728"/>
          </a:xfrm>
          <a:prstGeom prst="rect">
            <a:avLst/>
          </a:prstGeom>
          <a:solidFill>
            <a:srgbClr val="E8472D"/>
          </a:solidFill>
          <a:ln/>
        </p:spPr>
      </p:sp>
      <p:sp>
        <p:nvSpPr>
          <p:cNvPr id="19" name="Text 16"/>
          <p:cNvSpPr/>
          <p:nvPr/>
        </p:nvSpPr>
        <p:spPr>
          <a:xfrm>
            <a:off x="5349240" y="4498848"/>
            <a:ext cx="3383280" cy="201168"/>
          </a:xfrm>
          <a:prstGeom prst="rect">
            <a:avLst/>
          </a:prstGeom>
          <a:noFill/>
          <a:ln/>
        </p:spPr>
        <p:txBody>
          <a:bodyPr wrap="square" lIns="0" tIns="0" rIns="0" bIns="0" rtlCol="0" anchor="ctr"/>
          <a:lstStyle/>
          <a:p>
            <a:pPr algn="l" indent="0" marL="0">
              <a:buNone/>
            </a:pPr>
            <a:r>
              <a:rPr lang="en-US" sz="1050" b="1" dirty="0">
                <a:solidFill>
                  <a:srgbClr val="E8472D"/>
                </a:solidFill>
              </a:rPr>
              <a:t>❌ Avoid: Community + Listicle</a:t>
            </a:r>
            <a:endParaRPr lang="en-US" sz="1050" dirty="0"/>
          </a:p>
        </p:txBody>
      </p:sp>
      <p:sp>
        <p:nvSpPr>
          <p:cNvPr id="20" name="Shape 17"/>
          <p:cNvSpPr/>
          <p:nvPr/>
        </p:nvSpPr>
        <p:spPr>
          <a:xfrm>
            <a:off x="0" y="4846320"/>
            <a:ext cx="9144000" cy="297180"/>
          </a:xfrm>
          <a:prstGeom prst="rect">
            <a:avLst/>
          </a:prstGeom>
          <a:solidFill>
            <a:srgbClr val="0F1F3D"/>
          </a:solidFill>
          <a:ln w="12700">
            <a:solidFill>
              <a:srgbClr val="0F1F3D"/>
            </a:solidFill>
            <a:prstDash val="solid"/>
          </a:ln>
        </p:spPr>
      </p:sp>
      <p:sp>
        <p:nvSpPr>
          <p:cNvPr id="21" name="Text 18"/>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7 / 13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6ECDC4"/>
                </a:solidFill>
              </a:rPr>
              <a:t>DISCOVERY #3</a:t>
            </a:r>
            <a:endParaRPr lang="en-US" sz="950" dirty="0"/>
          </a:p>
        </p:txBody>
      </p:sp>
      <p:sp>
        <p:nvSpPr>
          <p:cNvPr id="3" name="Text 1"/>
          <p:cNvSpPr/>
          <p:nvPr/>
        </p:nvSpPr>
        <p:spPr>
          <a:xfrm>
            <a:off x="502920" y="475488"/>
            <a:ext cx="8229600" cy="1234440"/>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Google Trends can see the future —</a:t>
            </a:r>
            <a:endParaRPr lang="en-US" sz="3400" dirty="0"/>
          </a:p>
          <a:p>
            <a:pPr algn="l" indent="0" marL="0">
              <a:buNone/>
            </a:pPr>
            <a:r>
              <a:rPr lang="en-US" sz="3400" b="1" dirty="0">
                <a:solidFill>
                  <a:srgbClr val="FFFFFF"/>
                </a:solidFill>
                <a:latin typeface="Georgia" pitchFamily="34" charset="0"/>
                <a:ea typeface="Georgia" pitchFamily="34" charset="-122"/>
                <a:cs typeface="Georgia" pitchFamily="34" charset="-120"/>
              </a:rPr>
              <a:t>but only for some topics.</a:t>
            </a:r>
            <a:endParaRPr lang="en-US" sz="3400" dirty="0"/>
          </a:p>
        </p:txBody>
      </p:sp>
      <p:pic>
        <p:nvPicPr>
          <p:cNvPr id="4" name="Image 0" descr="/sessions/exciting-friendly-hamilton/mnt/Bellevue University/DSC680/projects/project2-content-strategy-engine/figures/fig04_trends_lead_lag.png">    </p:cNvPr>
          <p:cNvPicPr>
            <a:picLocks noChangeAspect="1"/>
          </p:cNvPicPr>
          <p:nvPr/>
        </p:nvPicPr>
        <p:blipFill>
          <a:blip r:embed="rId1"/>
          <a:stretch>
            <a:fillRect/>
          </a:stretch>
        </p:blipFill>
        <p:spPr>
          <a:xfrm>
            <a:off x="365760" y="1828800"/>
            <a:ext cx="4572000" cy="2743200"/>
          </a:xfrm>
          <a:prstGeom prst="rect">
            <a:avLst/>
          </a:prstGeom>
        </p:spPr>
      </p:pic>
      <p:sp>
        <p:nvSpPr>
          <p:cNvPr id="5" name="Text 2"/>
          <p:cNvSpPr/>
          <p:nvPr/>
        </p:nvSpPr>
        <p:spPr>
          <a:xfrm>
            <a:off x="5166360" y="1920240"/>
            <a:ext cx="3657600" cy="320040"/>
          </a:xfrm>
          <a:prstGeom prst="rect">
            <a:avLst/>
          </a:prstGeom>
          <a:noFill/>
          <a:ln/>
        </p:spPr>
        <p:txBody>
          <a:bodyPr wrap="square" lIns="0" tIns="0" rIns="0" bIns="0" rtlCol="0" anchor="ctr"/>
          <a:lstStyle/>
          <a:p>
            <a:pPr algn="l" indent="0" marL="0">
              <a:buNone/>
            </a:pPr>
            <a:r>
              <a:rPr lang="en-US" sz="1200" b="1" dirty="0">
                <a:solidFill>
                  <a:srgbClr val="6ECDC4"/>
                </a:solidFill>
              </a:rPr>
              <a:t>What this means in practice:</a:t>
            </a:r>
            <a:endParaRPr lang="en-US" sz="1200" dirty="0"/>
          </a:p>
        </p:txBody>
      </p:sp>
      <p:sp>
        <p:nvSpPr>
          <p:cNvPr id="6" name="Shape 3"/>
          <p:cNvSpPr/>
          <p:nvPr/>
        </p:nvSpPr>
        <p:spPr>
          <a:xfrm>
            <a:off x="5166360" y="2331720"/>
            <a:ext cx="3657600" cy="713232"/>
          </a:xfrm>
          <a:prstGeom prst="rect">
            <a:avLst/>
          </a:prstGeom>
          <a:solidFill>
            <a:srgbClr val="FFFFFF">
              <a:alpha val="12000"/>
            </a:srgbClr>
          </a:solidFill>
          <a:ln/>
        </p:spPr>
      </p:sp>
      <p:sp>
        <p:nvSpPr>
          <p:cNvPr id="7" name="Text 4"/>
          <p:cNvSpPr/>
          <p:nvPr/>
        </p:nvSpPr>
        <p:spPr>
          <a:xfrm>
            <a:off x="5230368" y="2423160"/>
            <a:ext cx="45720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5"/>
          <p:cNvSpPr/>
          <p:nvPr/>
        </p:nvSpPr>
        <p:spPr>
          <a:xfrm>
            <a:off x="5742432" y="2377440"/>
            <a:ext cx="2971800" cy="274320"/>
          </a:xfrm>
          <a:prstGeom prst="rect">
            <a:avLst/>
          </a:prstGeom>
          <a:noFill/>
          <a:ln/>
        </p:spPr>
        <p:txBody>
          <a:bodyPr wrap="square" lIns="0" tIns="0" rIns="0" bIns="0" rtlCol="0" anchor="ctr"/>
          <a:lstStyle/>
          <a:p>
            <a:pPr algn="l" indent="0" marL="0">
              <a:buNone/>
            </a:pPr>
            <a:r>
              <a:rPr lang="en-US" sz="1200" b="1" dirty="0">
                <a:solidFill>
                  <a:srgbClr val="6ECDC4"/>
                </a:solidFill>
              </a:rPr>
              <a:t>Training content</a:t>
            </a:r>
            <a:endParaRPr lang="en-US" sz="1200" dirty="0"/>
          </a:p>
        </p:txBody>
      </p:sp>
      <p:sp>
        <p:nvSpPr>
          <p:cNvPr id="9" name="Text 6"/>
          <p:cNvSpPr/>
          <p:nvPr/>
        </p:nvSpPr>
        <p:spPr>
          <a:xfrm>
            <a:off x="5742432" y="2660904"/>
            <a:ext cx="2971800" cy="347472"/>
          </a:xfrm>
          <a:prstGeom prst="rect">
            <a:avLst/>
          </a:prstGeom>
          <a:noFill/>
          <a:ln/>
        </p:spPr>
        <p:txBody>
          <a:bodyPr wrap="square" lIns="0" tIns="0" rIns="0" bIns="0" rtlCol="0" anchor="ctr"/>
          <a:lstStyle/>
          <a:p>
            <a:pPr algn="l" indent="0" marL="0">
              <a:buNone/>
            </a:pPr>
            <a:r>
              <a:rPr lang="en-US" sz="950" dirty="0">
                <a:solidFill>
                  <a:srgbClr val="FFFFFF"/>
                </a:solidFill>
              </a:rPr>
              <a:t>Post when search interest</a:t>
            </a:r>
            <a:endParaRPr lang="en-US" sz="950" dirty="0"/>
          </a:p>
          <a:p>
            <a:pPr algn="l" indent="0" marL="0">
              <a:buNone/>
            </a:pPr>
            <a:r>
              <a:rPr lang="en-US" sz="950" dirty="0">
                <a:solidFill>
                  <a:srgbClr val="FFFFFF"/>
                </a:solidFill>
              </a:rPr>
              <a:t>starts rising (+2 weeks early)</a:t>
            </a:r>
            <a:endParaRPr lang="en-US" sz="950" dirty="0"/>
          </a:p>
        </p:txBody>
      </p:sp>
      <p:sp>
        <p:nvSpPr>
          <p:cNvPr id="10" name="Shape 7"/>
          <p:cNvSpPr/>
          <p:nvPr/>
        </p:nvSpPr>
        <p:spPr>
          <a:xfrm>
            <a:off x="5166360" y="3154680"/>
            <a:ext cx="3657600" cy="713232"/>
          </a:xfrm>
          <a:prstGeom prst="rect">
            <a:avLst/>
          </a:prstGeom>
          <a:solidFill>
            <a:srgbClr val="FFFFFF">
              <a:alpha val="12000"/>
            </a:srgbClr>
          </a:solidFill>
          <a:ln/>
        </p:spPr>
      </p:sp>
      <p:sp>
        <p:nvSpPr>
          <p:cNvPr id="11" name="Text 8"/>
          <p:cNvSpPr/>
          <p:nvPr/>
        </p:nvSpPr>
        <p:spPr>
          <a:xfrm>
            <a:off x="5230368" y="3246120"/>
            <a:ext cx="45720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9"/>
          <p:cNvSpPr/>
          <p:nvPr/>
        </p:nvSpPr>
        <p:spPr>
          <a:xfrm>
            <a:off x="5742432" y="3200400"/>
            <a:ext cx="2971800" cy="274320"/>
          </a:xfrm>
          <a:prstGeom prst="rect">
            <a:avLst/>
          </a:prstGeom>
          <a:noFill/>
          <a:ln/>
        </p:spPr>
        <p:txBody>
          <a:bodyPr wrap="square" lIns="0" tIns="0" rIns="0" bIns="0" rtlCol="0" anchor="ctr"/>
          <a:lstStyle/>
          <a:p>
            <a:pPr algn="l" indent="0" marL="0">
              <a:buNone/>
            </a:pPr>
            <a:r>
              <a:rPr lang="en-US" sz="1200" b="1" dirty="0">
                <a:solidFill>
                  <a:srgbClr val="6ECDC4"/>
                </a:solidFill>
              </a:rPr>
              <a:t>Gear content</a:t>
            </a:r>
            <a:endParaRPr lang="en-US" sz="1200" dirty="0"/>
          </a:p>
        </p:txBody>
      </p:sp>
      <p:sp>
        <p:nvSpPr>
          <p:cNvPr id="13" name="Text 10"/>
          <p:cNvSpPr/>
          <p:nvPr/>
        </p:nvSpPr>
        <p:spPr>
          <a:xfrm>
            <a:off x="5742432" y="3483864"/>
            <a:ext cx="2971800" cy="347472"/>
          </a:xfrm>
          <a:prstGeom prst="rect">
            <a:avLst/>
          </a:prstGeom>
          <a:noFill/>
          <a:ln/>
        </p:spPr>
        <p:txBody>
          <a:bodyPr wrap="square" lIns="0" tIns="0" rIns="0" bIns="0" rtlCol="0" anchor="ctr"/>
          <a:lstStyle/>
          <a:p>
            <a:pPr algn="l" indent="0" marL="0">
              <a:buNone/>
            </a:pPr>
            <a:r>
              <a:rPr lang="en-US" sz="950" dirty="0">
                <a:solidFill>
                  <a:srgbClr val="FFFFFF"/>
                </a:solidFill>
              </a:rPr>
              <a:t>Trends leads by 5 weeks —</a:t>
            </a:r>
            <a:endParaRPr lang="en-US" sz="950" dirty="0"/>
          </a:p>
          <a:p>
            <a:pPr algn="l" indent="0" marL="0">
              <a:buNone/>
            </a:pPr>
            <a:r>
              <a:rPr lang="en-US" sz="950" dirty="0">
                <a:solidFill>
                  <a:srgbClr val="FFFFFF"/>
                </a:solidFill>
              </a:rPr>
              <a:t>but weaker signal (r=0.11)</a:t>
            </a:r>
            <a:endParaRPr lang="en-US" sz="950" dirty="0"/>
          </a:p>
        </p:txBody>
      </p:sp>
      <p:sp>
        <p:nvSpPr>
          <p:cNvPr id="14" name="Shape 11"/>
          <p:cNvSpPr/>
          <p:nvPr/>
        </p:nvSpPr>
        <p:spPr>
          <a:xfrm>
            <a:off x="5166360" y="3977640"/>
            <a:ext cx="3657600" cy="713232"/>
          </a:xfrm>
          <a:prstGeom prst="rect">
            <a:avLst/>
          </a:prstGeom>
          <a:solidFill>
            <a:srgbClr val="FFFFFF">
              <a:alpha val="12000"/>
            </a:srgbClr>
          </a:solidFill>
          <a:ln/>
        </p:spPr>
      </p:sp>
      <p:sp>
        <p:nvSpPr>
          <p:cNvPr id="15" name="Text 12"/>
          <p:cNvSpPr/>
          <p:nvPr/>
        </p:nvSpPr>
        <p:spPr>
          <a:xfrm>
            <a:off x="5230368" y="4069080"/>
            <a:ext cx="45720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3"/>
          <p:cNvSpPr/>
          <p:nvPr/>
        </p:nvSpPr>
        <p:spPr>
          <a:xfrm>
            <a:off x="5742432" y="4023360"/>
            <a:ext cx="2971800" cy="274320"/>
          </a:xfrm>
          <a:prstGeom prst="rect">
            <a:avLst/>
          </a:prstGeom>
          <a:noFill/>
          <a:ln/>
        </p:spPr>
        <p:txBody>
          <a:bodyPr wrap="square" lIns="0" tIns="0" rIns="0" bIns="0" rtlCol="0" anchor="ctr"/>
          <a:lstStyle/>
          <a:p>
            <a:pPr algn="l" indent="0" marL="0">
              <a:buNone/>
            </a:pPr>
            <a:r>
              <a:rPr lang="en-US" sz="1200" b="1" dirty="0">
                <a:solidFill>
                  <a:srgbClr val="F5A623"/>
                </a:solidFill>
              </a:rPr>
              <a:t>Recovery &amp; Sleep</a:t>
            </a:r>
            <a:endParaRPr lang="en-US" sz="1200" dirty="0"/>
          </a:p>
        </p:txBody>
      </p:sp>
      <p:sp>
        <p:nvSpPr>
          <p:cNvPr id="17" name="Text 14"/>
          <p:cNvSpPr/>
          <p:nvPr/>
        </p:nvSpPr>
        <p:spPr>
          <a:xfrm>
            <a:off x="5742432" y="4306824"/>
            <a:ext cx="2971800" cy="347472"/>
          </a:xfrm>
          <a:prstGeom prst="rect">
            <a:avLst/>
          </a:prstGeom>
          <a:noFill/>
          <a:ln/>
        </p:spPr>
        <p:txBody>
          <a:bodyPr wrap="square" lIns="0" tIns="0" rIns="0" bIns="0" rtlCol="0" anchor="ctr"/>
          <a:lstStyle/>
          <a:p>
            <a:pPr algn="l" indent="0" marL="0">
              <a:buNone/>
            </a:pPr>
            <a:r>
              <a:rPr lang="en-US" sz="950" dirty="0">
                <a:solidFill>
                  <a:srgbClr val="FFFFFF"/>
                </a:solidFill>
              </a:rPr>
              <a:t>Community engagement actually</a:t>
            </a:r>
            <a:endParaRPr lang="en-US" sz="950" dirty="0"/>
          </a:p>
          <a:p>
            <a:pPr algn="l" indent="0" marL="0">
              <a:buNone/>
            </a:pPr>
            <a:r>
              <a:rPr lang="en-US" sz="950" dirty="0">
                <a:solidFill>
                  <a:srgbClr val="FFFFFF"/>
                </a:solidFill>
              </a:rPr>
              <a:t>leads public search interest</a:t>
            </a:r>
            <a:endParaRPr lang="en-US" sz="950" dirty="0"/>
          </a:p>
        </p:txBody>
      </p:sp>
      <p:sp>
        <p:nvSpPr>
          <p:cNvPr id="18" name="Text 15"/>
          <p:cNvSpPr/>
          <p:nvPr/>
        </p:nvSpPr>
        <p:spPr>
          <a:xfrm>
            <a:off x="5166360" y="4645152"/>
            <a:ext cx="3657600" cy="182880"/>
          </a:xfrm>
          <a:prstGeom prst="rect">
            <a:avLst/>
          </a:prstGeom>
          <a:noFill/>
          <a:ln/>
        </p:spPr>
        <p:txBody>
          <a:bodyPr wrap="square" lIns="0" tIns="0" rIns="0" bIns="0" rtlCol="0" anchor="ctr"/>
          <a:lstStyle/>
          <a:p>
            <a:pPr algn="l" indent="0" marL="0">
              <a:buNone/>
            </a:pPr>
            <a:r>
              <a:rPr lang="en-US" sz="900" b="1" i="1" dirty="0">
                <a:solidFill>
                  <a:srgbClr val="F5A623"/>
                </a:solidFill>
              </a:rPr>
              <a:t>Takeaway: use Trends as a leading signal per topic — not as a blanket rule.</a:t>
            </a:r>
            <a:endParaRPr lang="en-US" sz="900" dirty="0"/>
          </a:p>
        </p:txBody>
      </p:sp>
      <p:sp>
        <p:nvSpPr>
          <p:cNvPr id="19" name="Shape 16"/>
          <p:cNvSpPr/>
          <p:nvPr/>
        </p:nvSpPr>
        <p:spPr>
          <a:xfrm>
            <a:off x="0" y="4846320"/>
            <a:ext cx="9144000" cy="297180"/>
          </a:xfrm>
          <a:prstGeom prst="rect">
            <a:avLst/>
          </a:prstGeom>
          <a:solidFill>
            <a:srgbClr val="0F1F3D"/>
          </a:solidFill>
          <a:ln w="12700">
            <a:solidFill>
              <a:srgbClr val="0F1F3D"/>
            </a:solidFill>
            <a:prstDash val="solid"/>
          </a:ln>
        </p:spPr>
      </p:sp>
      <p:sp>
        <p:nvSpPr>
          <p:cNvPr id="20" name="Text 17"/>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8 / 13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0" y="274320"/>
            <a:ext cx="9144000" cy="3108960"/>
          </a:xfrm>
          <a:prstGeom prst="rect">
            <a:avLst/>
          </a:prstGeom>
          <a:noFill/>
          <a:ln/>
        </p:spPr>
        <p:txBody>
          <a:bodyPr wrap="square" lIns="0" tIns="0" rIns="0" bIns="0" rtlCol="0" anchor="ctr"/>
          <a:lstStyle/>
          <a:p>
            <a:pPr algn="ctr" indent="0" marL="0">
              <a:buNone/>
            </a:pPr>
            <a:r>
              <a:rPr lang="en-US" sz="16000" b="1" dirty="0">
                <a:solidFill>
                  <a:srgbClr val="F5A623"/>
                </a:solidFill>
                <a:latin typeface="Georgia" pitchFamily="34" charset="0"/>
                <a:ea typeface="Georgia" pitchFamily="34" charset="-122"/>
                <a:cs typeface="Georgia" pitchFamily="34" charset="-120"/>
              </a:rPr>
              <a:t>+37%</a:t>
            </a:r>
            <a:endParaRPr lang="en-US" sz="16000" dirty="0"/>
          </a:p>
        </p:txBody>
      </p:sp>
      <p:sp>
        <p:nvSpPr>
          <p:cNvPr id="3" name="Text 1"/>
          <p:cNvSpPr/>
          <p:nvPr/>
        </p:nvSpPr>
        <p:spPr>
          <a:xfrm>
            <a:off x="457200" y="3200400"/>
            <a:ext cx="8229600" cy="548640"/>
          </a:xfrm>
          <a:prstGeom prst="rect">
            <a:avLst/>
          </a:prstGeom>
          <a:noFill/>
          <a:ln/>
        </p:spPr>
        <p:txBody>
          <a:bodyPr wrap="square" lIns="0" tIns="0" rIns="0" bIns="0" rtlCol="0" anchor="ctr"/>
          <a:lstStyle/>
          <a:p>
            <a:pPr algn="ctr" indent="0" marL="0">
              <a:buNone/>
            </a:pPr>
            <a:r>
              <a:rPr lang="en-US" sz="2400" i="1" dirty="0">
                <a:solidFill>
                  <a:srgbClr val="FFFFFF"/>
                </a:solidFill>
              </a:rPr>
              <a:t>predicted engagement lift</a:t>
            </a:r>
            <a:endParaRPr lang="en-US" sz="2400" dirty="0"/>
          </a:p>
        </p:txBody>
      </p:sp>
      <p:sp>
        <p:nvSpPr>
          <p:cNvPr id="4" name="Shape 2"/>
          <p:cNvSpPr/>
          <p:nvPr/>
        </p:nvSpPr>
        <p:spPr>
          <a:xfrm>
            <a:off x="1371600" y="3886200"/>
            <a:ext cx="6400800" cy="54864"/>
          </a:xfrm>
          <a:prstGeom prst="rect">
            <a:avLst/>
          </a:prstGeom>
          <a:solidFill>
            <a:srgbClr val="0D9488"/>
          </a:solidFill>
          <a:ln w="12700">
            <a:solidFill>
              <a:srgbClr val="0D9488"/>
            </a:solidFill>
            <a:prstDash val="solid"/>
          </a:ln>
        </p:spPr>
      </p:sp>
      <p:sp>
        <p:nvSpPr>
          <p:cNvPr id="5" name="Text 3"/>
          <p:cNvSpPr/>
          <p:nvPr/>
        </p:nvSpPr>
        <p:spPr>
          <a:xfrm>
            <a:off x="457200" y="4023360"/>
            <a:ext cx="8229600" cy="347472"/>
          </a:xfrm>
          <a:prstGeom prst="rect">
            <a:avLst/>
          </a:prstGeom>
          <a:noFill/>
          <a:ln/>
        </p:spPr>
        <p:txBody>
          <a:bodyPr wrap="square" lIns="0" tIns="0" rIns="0" bIns="0" rtlCol="0" anchor="ctr"/>
          <a:lstStyle/>
          <a:p>
            <a:pPr algn="ctr" indent="0" marL="0">
              <a:buNone/>
            </a:pPr>
            <a:r>
              <a:rPr lang="en-US" sz="1400" b="1" dirty="0">
                <a:solidFill>
                  <a:srgbClr val="0D9488"/>
                </a:solidFill>
              </a:rPr>
              <a:t>95% bootstrap CI: [+15%, +64%]  ·  1,000 resamples  ·  CI excludes zero</a:t>
            </a:r>
            <a:endParaRPr lang="en-US" sz="1400" dirty="0"/>
          </a:p>
        </p:txBody>
      </p:sp>
      <p:sp>
        <p:nvSpPr>
          <p:cNvPr id="6" name="Text 4"/>
          <p:cNvSpPr/>
          <p:nvPr/>
        </p:nvSpPr>
        <p:spPr>
          <a:xfrm>
            <a:off x="731520" y="4462272"/>
            <a:ext cx="7680960" cy="320040"/>
          </a:xfrm>
          <a:prstGeom prst="rect">
            <a:avLst/>
          </a:prstGeom>
          <a:noFill/>
          <a:ln/>
        </p:spPr>
        <p:txBody>
          <a:bodyPr wrap="square" lIns="0" tIns="0" rIns="0" bIns="0" rtlCol="0" anchor="ctr"/>
          <a:lstStyle/>
          <a:p>
            <a:pPr algn="ctr" indent="0" marL="0">
              <a:buNone/>
            </a:pPr>
            <a:r>
              <a:rPr lang="en-US" sz="1200" i="1" dirty="0">
                <a:solidFill>
                  <a:srgbClr val="8898A8"/>
                </a:solidFill>
              </a:rPr>
              <a:t>When the AI is told what to write (instead of guessing), the result is measurably better.</a:t>
            </a:r>
            <a:endParaRPr lang="en-US" sz="1200" dirty="0"/>
          </a:p>
        </p:txBody>
      </p:sp>
      <p:sp>
        <p:nvSpPr>
          <p:cNvPr id="7" name="Shape 5"/>
          <p:cNvSpPr/>
          <p:nvPr/>
        </p:nvSpPr>
        <p:spPr>
          <a:xfrm>
            <a:off x="0" y="4846320"/>
            <a:ext cx="9144000" cy="297180"/>
          </a:xfrm>
          <a:prstGeom prst="rect">
            <a:avLst/>
          </a:prstGeom>
          <a:solidFill>
            <a:srgbClr val="0F1F3D"/>
          </a:solidFill>
          <a:ln w="12700">
            <a:solidFill>
              <a:srgbClr val="0F1F3D"/>
            </a:solidFill>
            <a:prstDash val="solid"/>
          </a:ln>
        </p:spPr>
      </p:sp>
      <p:sp>
        <p:nvSpPr>
          <p:cNvPr id="8" name="Text 6"/>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9 / 13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1A5FA8"/>
                </a:solidFill>
              </a:rPr>
              <a:t>WHAT THIS LOOKS LIKE IN PRACTICE</a:t>
            </a:r>
            <a:endParaRPr lang="en-US" sz="95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algn="l" indent="0" marL="0">
              <a:buNone/>
            </a:pPr>
            <a:r>
              <a:rPr lang="en-US" sz="2800" b="1" dirty="0">
                <a:solidFill>
                  <a:srgbClr val="0F1F3D"/>
                </a:solidFill>
                <a:latin typeface="Georgia" pitchFamily="34" charset="0"/>
                <a:ea typeface="Georgia" pitchFamily="34" charset="-122"/>
                <a:cs typeface="Georgia" pitchFamily="34" charset="-120"/>
              </a:rPr>
              <a:t>The same prompt. Two very different results.</a:t>
            </a:r>
            <a:endParaRPr lang="en-US" sz="2800" dirty="0"/>
          </a:p>
        </p:txBody>
      </p:sp>
      <p:sp>
        <p:nvSpPr>
          <p:cNvPr id="4" name="Shape 2"/>
          <p:cNvSpPr/>
          <p:nvPr/>
        </p:nvSpPr>
        <p:spPr>
          <a:xfrm>
            <a:off x="365760" y="1298448"/>
            <a:ext cx="3840480" cy="320040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5" name="Shape 3"/>
          <p:cNvSpPr/>
          <p:nvPr/>
        </p:nvSpPr>
        <p:spPr>
          <a:xfrm>
            <a:off x="365760" y="1298448"/>
            <a:ext cx="3840480" cy="420624"/>
          </a:xfrm>
          <a:prstGeom prst="rect">
            <a:avLst/>
          </a:prstGeom>
          <a:solidFill>
            <a:srgbClr val="E8472D"/>
          </a:solidFill>
          <a:ln/>
        </p:spPr>
      </p:sp>
      <p:sp>
        <p:nvSpPr>
          <p:cNvPr id="6" name="Text 4"/>
          <p:cNvSpPr/>
          <p:nvPr/>
        </p:nvSpPr>
        <p:spPr>
          <a:xfrm>
            <a:off x="502920" y="1316736"/>
            <a:ext cx="3566160" cy="384048"/>
          </a:xfrm>
          <a:prstGeom prst="rect">
            <a:avLst/>
          </a:prstGeom>
          <a:noFill/>
          <a:ln/>
        </p:spPr>
        <p:txBody>
          <a:bodyPr wrap="square" lIns="0" tIns="0" rIns="0" bIns="0" rtlCol="0" anchor="ctr"/>
          <a:lstStyle/>
          <a:p>
            <a:pPr algn="l" indent="0" marL="0">
              <a:buNone/>
            </a:pPr>
            <a:r>
              <a:rPr lang="en-US" sz="1200" b="1" dirty="0">
                <a:solidFill>
                  <a:srgbClr val="FFFFFF"/>
                </a:solidFill>
              </a:rPr>
              <a:t>❌  UNINFORMED DRAFT</a:t>
            </a:r>
            <a:endParaRPr lang="en-US" sz="1200" dirty="0"/>
          </a:p>
        </p:txBody>
      </p:sp>
      <p:sp>
        <p:nvSpPr>
          <p:cNvPr id="7" name="Shape 5"/>
          <p:cNvSpPr/>
          <p:nvPr/>
        </p:nvSpPr>
        <p:spPr>
          <a:xfrm>
            <a:off x="365760" y="1719072"/>
            <a:ext cx="475488" cy="2779776"/>
          </a:xfrm>
          <a:prstGeom prst="rect">
            <a:avLst/>
          </a:prstGeom>
          <a:solidFill>
            <a:srgbClr val="FDE8E5"/>
          </a:solidFill>
          <a:ln/>
        </p:spPr>
      </p:sp>
      <p:sp>
        <p:nvSpPr>
          <p:cNvPr id="8" name="Text 6"/>
          <p:cNvSpPr/>
          <p:nvPr/>
        </p:nvSpPr>
        <p:spPr>
          <a:xfrm>
            <a:off x="365760" y="1874520"/>
            <a:ext cx="475488" cy="1371600"/>
          </a:xfrm>
          <a:prstGeom prst="rect">
            <a:avLst/>
          </a:prstGeom>
          <a:noFill/>
          <a:ln/>
        </p:spPr>
        <p:txBody>
          <a:bodyPr wrap="square" lIns="0" tIns="0" rIns="0" bIns="0" rtlCol="0" anchor="ctr"/>
          <a:lstStyle/>
          <a:p>
            <a:pPr algn="ctr" indent="0" marL="0">
              <a:buNone/>
            </a:pPr>
            <a:r>
              <a:rPr lang="en-US" sz="1000" b="1" dirty="0">
                <a:solidFill>
                  <a:srgbClr val="E8472D"/>
                </a:solidFill>
              </a:rPr>
              <a:t>▲</a:t>
            </a:r>
            <a:endParaRPr lang="en-US" sz="1000" dirty="0"/>
          </a:p>
          <a:p>
            <a:pPr algn="ctr" indent="0" marL="0">
              <a:buNone/>
            </a:pPr>
            <a:r>
              <a:rPr lang="en-US" sz="1000" b="1" dirty="0">
                <a:solidFill>
                  <a:srgbClr val="E8472D"/>
                </a:solidFill>
              </a:rPr>
              <a:t>23</a:t>
            </a:r>
            <a:endParaRPr lang="en-US" sz="1000" dirty="0"/>
          </a:p>
          <a:p>
            <a:pPr algn="ctr" indent="0" marL="0">
              <a:buNone/>
            </a:pPr>
            <a:r>
              <a:rPr lang="en-US" sz="1000" b="1" dirty="0">
                <a:solidFill>
                  <a:srgbClr val="E8472D"/>
                </a:solidFill>
              </a:rPr>
              <a:t>▼</a:t>
            </a:r>
            <a:endParaRPr lang="en-US" sz="1000" dirty="0"/>
          </a:p>
        </p:txBody>
      </p:sp>
      <p:sp>
        <p:nvSpPr>
          <p:cNvPr id="9" name="Shape 7"/>
          <p:cNvSpPr/>
          <p:nvPr/>
        </p:nvSpPr>
        <p:spPr>
          <a:xfrm>
            <a:off x="877824" y="1755648"/>
            <a:ext cx="731520" cy="219456"/>
          </a:xfrm>
          <a:prstGeom prst="rect">
            <a:avLst/>
          </a:prstGeom>
          <a:solidFill>
            <a:srgbClr val="8898A8"/>
          </a:solidFill>
          <a:ln/>
        </p:spPr>
      </p:sp>
      <p:sp>
        <p:nvSpPr>
          <p:cNvPr id="10" name="Text 8"/>
          <p:cNvSpPr/>
          <p:nvPr/>
        </p:nvSpPr>
        <p:spPr>
          <a:xfrm>
            <a:off x="877824" y="1755648"/>
            <a:ext cx="731520" cy="219456"/>
          </a:xfrm>
          <a:prstGeom prst="rect">
            <a:avLst/>
          </a:prstGeom>
          <a:noFill/>
          <a:ln/>
        </p:spPr>
        <p:txBody>
          <a:bodyPr wrap="square" lIns="0" tIns="0" rIns="0" bIns="0" rtlCol="0" anchor="ctr"/>
          <a:lstStyle/>
          <a:p>
            <a:pPr algn="ctr" indent="0" marL="0">
              <a:buNone/>
            </a:pPr>
            <a:r>
              <a:rPr lang="en-US" sz="800" b="1" dirty="0">
                <a:solidFill>
                  <a:srgbClr val="FFFFFF"/>
                </a:solidFill>
              </a:rPr>
              <a:t>Community</a:t>
            </a:r>
            <a:endParaRPr lang="en-US" sz="800" dirty="0"/>
          </a:p>
        </p:txBody>
      </p:sp>
      <p:sp>
        <p:nvSpPr>
          <p:cNvPr id="11" name="Text 9"/>
          <p:cNvSpPr/>
          <p:nvPr/>
        </p:nvSpPr>
        <p:spPr>
          <a:xfrm>
            <a:off x="896112" y="2029968"/>
            <a:ext cx="3154680" cy="566928"/>
          </a:xfrm>
          <a:prstGeom prst="rect">
            <a:avLst/>
          </a:prstGeom>
          <a:noFill/>
          <a:ln/>
        </p:spPr>
        <p:txBody>
          <a:bodyPr wrap="square" lIns="0" tIns="0" rIns="0" bIns="0" rtlCol="0" anchor="ctr"/>
          <a:lstStyle/>
          <a:p>
            <a:pPr algn="l" indent="0" marL="0">
              <a:buNone/>
            </a:pPr>
            <a:r>
              <a:rPr lang="en-US" sz="1400" b="1" dirty="0">
                <a:solidFill>
                  <a:srgbClr val="2D3748"/>
                </a:solidFill>
              </a:rPr>
              <a:t>5 Tips to Stay Fit</a:t>
            </a:r>
            <a:endParaRPr lang="en-US" sz="1400" dirty="0"/>
          </a:p>
          <a:p>
            <a:pPr algn="l" indent="0" marL="0">
              <a:buNone/>
            </a:pPr>
            <a:r>
              <a:rPr lang="en-US" sz="1400" b="1" dirty="0">
                <a:solidFill>
                  <a:srgbClr val="2D3748"/>
                </a:solidFill>
              </a:rPr>
              <a:t>(listicle)</a:t>
            </a:r>
            <a:endParaRPr lang="en-US" sz="1400" dirty="0"/>
          </a:p>
        </p:txBody>
      </p:sp>
      <p:sp>
        <p:nvSpPr>
          <p:cNvPr id="12" name="Text 10"/>
          <p:cNvSpPr/>
          <p:nvPr/>
        </p:nvSpPr>
        <p:spPr>
          <a:xfrm>
            <a:off x="896112" y="2651760"/>
            <a:ext cx="3154680" cy="868680"/>
          </a:xfrm>
          <a:prstGeom prst="rect">
            <a:avLst/>
          </a:prstGeom>
          <a:noFill/>
          <a:ln/>
        </p:spPr>
        <p:txBody>
          <a:bodyPr wrap="square" lIns="0" tIns="0" rIns="0" bIns="0" rtlCol="0" anchor="ctr"/>
          <a:lstStyle/>
          <a:p>
            <a:pPr algn="l" indent="0" marL="0">
              <a:buNone/>
            </a:pPr>
            <a:r>
              <a:rPr lang="en-US" sz="1000" dirty="0">
                <a:solidFill>
                  <a:srgbClr val="8898A8"/>
                </a:solidFill>
              </a:rPr>
              <a:t>Here are some generic things you can do to stay fit. #1 exercise more. #2 eat better. #3 sleep earlier...</a:t>
            </a:r>
            <a:endParaRPr lang="en-US" sz="1000" dirty="0"/>
          </a:p>
        </p:txBody>
      </p:sp>
      <p:sp>
        <p:nvSpPr>
          <p:cNvPr id="13" name="Text 11"/>
          <p:cNvSpPr/>
          <p:nvPr/>
        </p:nvSpPr>
        <p:spPr>
          <a:xfrm>
            <a:off x="896112" y="3566160"/>
            <a:ext cx="3154680" cy="365760"/>
          </a:xfrm>
          <a:prstGeom prst="rect">
            <a:avLst/>
          </a:prstGeom>
          <a:noFill/>
          <a:ln/>
        </p:spPr>
        <p:txBody>
          <a:bodyPr wrap="square" lIns="0" tIns="0" rIns="0" bIns="0" rtlCol="0" anchor="ctr"/>
          <a:lstStyle/>
          <a:p>
            <a:pPr algn="l" indent="0" marL="0">
              <a:buNone/>
            </a:pPr>
            <a:r>
              <a:rPr lang="en-US" sz="900" i="1" dirty="0">
                <a:solidFill>
                  <a:srgbClr val="E8472D"/>
                </a:solidFill>
              </a:rPr>
              <a:t>Saturday, 11:45 PM  ·  direct hook  ·  no strategy</a:t>
            </a:r>
            <a:endParaRPr lang="en-US" sz="900" dirty="0"/>
          </a:p>
        </p:txBody>
      </p:sp>
      <p:sp>
        <p:nvSpPr>
          <p:cNvPr id="14" name="Shape 12"/>
          <p:cNvSpPr/>
          <p:nvPr/>
        </p:nvSpPr>
        <p:spPr>
          <a:xfrm>
            <a:off x="4937760" y="1298448"/>
            <a:ext cx="3840480" cy="3200400"/>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5" name="Shape 13"/>
          <p:cNvSpPr/>
          <p:nvPr/>
        </p:nvSpPr>
        <p:spPr>
          <a:xfrm>
            <a:off x="4937760" y="1298448"/>
            <a:ext cx="3840480" cy="420624"/>
          </a:xfrm>
          <a:prstGeom prst="rect">
            <a:avLst/>
          </a:prstGeom>
          <a:solidFill>
            <a:srgbClr val="0D9488"/>
          </a:solidFill>
          <a:ln/>
        </p:spPr>
      </p:sp>
      <p:sp>
        <p:nvSpPr>
          <p:cNvPr id="16" name="Text 14"/>
          <p:cNvSpPr/>
          <p:nvPr/>
        </p:nvSpPr>
        <p:spPr>
          <a:xfrm>
            <a:off x="5074920" y="1316736"/>
            <a:ext cx="3566160" cy="384048"/>
          </a:xfrm>
          <a:prstGeom prst="rect">
            <a:avLst/>
          </a:prstGeom>
          <a:noFill/>
          <a:ln/>
        </p:spPr>
        <p:txBody>
          <a:bodyPr wrap="square" lIns="0" tIns="0" rIns="0" bIns="0" rtlCol="0" anchor="ctr"/>
          <a:lstStyle/>
          <a:p>
            <a:pPr algn="l" indent="0" marL="0">
              <a:buNone/>
            </a:pPr>
            <a:r>
              <a:rPr lang="en-US" sz="1200" b="1" dirty="0">
                <a:solidFill>
                  <a:srgbClr val="FFFFFF"/>
                </a:solidFill>
              </a:rPr>
              <a:t>✅  AI-CONDITIONED DRAFT</a:t>
            </a:r>
            <a:endParaRPr lang="en-US" sz="1200" dirty="0"/>
          </a:p>
        </p:txBody>
      </p:sp>
      <p:sp>
        <p:nvSpPr>
          <p:cNvPr id="17" name="Shape 15"/>
          <p:cNvSpPr/>
          <p:nvPr/>
        </p:nvSpPr>
        <p:spPr>
          <a:xfrm>
            <a:off x="4937760" y="1719072"/>
            <a:ext cx="475488" cy="2779776"/>
          </a:xfrm>
          <a:prstGeom prst="rect">
            <a:avLst/>
          </a:prstGeom>
          <a:solidFill>
            <a:srgbClr val="DCF5F0"/>
          </a:solidFill>
          <a:ln/>
        </p:spPr>
      </p:sp>
      <p:sp>
        <p:nvSpPr>
          <p:cNvPr id="18" name="Text 16"/>
          <p:cNvSpPr/>
          <p:nvPr/>
        </p:nvSpPr>
        <p:spPr>
          <a:xfrm>
            <a:off x="4937760" y="1874520"/>
            <a:ext cx="475488" cy="1371600"/>
          </a:xfrm>
          <a:prstGeom prst="rect">
            <a:avLst/>
          </a:prstGeom>
          <a:noFill/>
          <a:ln/>
        </p:spPr>
        <p:txBody>
          <a:bodyPr wrap="square" lIns="0" tIns="0" rIns="0" bIns="0" rtlCol="0" anchor="ctr"/>
          <a:lstStyle/>
          <a:p>
            <a:pPr algn="ctr" indent="0" marL="0">
              <a:buNone/>
            </a:pPr>
            <a:r>
              <a:rPr lang="en-US" sz="1000" b="1" dirty="0">
                <a:solidFill>
                  <a:srgbClr val="0D9488"/>
                </a:solidFill>
              </a:rPr>
              <a:t>▲</a:t>
            </a:r>
            <a:endParaRPr lang="en-US" sz="1000" dirty="0"/>
          </a:p>
          <a:p>
            <a:pPr algn="ctr" indent="0" marL="0">
              <a:buNone/>
            </a:pPr>
            <a:r>
              <a:rPr lang="en-US" sz="1000" b="1" dirty="0">
                <a:solidFill>
                  <a:srgbClr val="0D9488"/>
                </a:solidFill>
              </a:rPr>
              <a:t>312</a:t>
            </a:r>
            <a:endParaRPr lang="en-US" sz="1000" dirty="0"/>
          </a:p>
          <a:p>
            <a:pPr algn="ctr" indent="0" marL="0">
              <a:buNone/>
            </a:pPr>
            <a:r>
              <a:rPr lang="en-US" sz="1000" b="1" dirty="0">
                <a:solidFill>
                  <a:srgbClr val="0D9488"/>
                </a:solidFill>
              </a:rPr>
              <a:t>▼</a:t>
            </a:r>
            <a:endParaRPr lang="en-US" sz="1000" dirty="0"/>
          </a:p>
        </p:txBody>
      </p:sp>
      <p:sp>
        <p:nvSpPr>
          <p:cNvPr id="19" name="Shape 17"/>
          <p:cNvSpPr/>
          <p:nvPr/>
        </p:nvSpPr>
        <p:spPr>
          <a:xfrm>
            <a:off x="5449824" y="1755648"/>
            <a:ext cx="749808" cy="219456"/>
          </a:xfrm>
          <a:prstGeom prst="rect">
            <a:avLst/>
          </a:prstGeom>
          <a:solidFill>
            <a:srgbClr val="0D9488"/>
          </a:solidFill>
          <a:ln/>
        </p:spPr>
      </p:sp>
      <p:sp>
        <p:nvSpPr>
          <p:cNvPr id="20" name="Text 18"/>
          <p:cNvSpPr/>
          <p:nvPr/>
        </p:nvSpPr>
        <p:spPr>
          <a:xfrm>
            <a:off x="5449824" y="1755648"/>
            <a:ext cx="749808" cy="219456"/>
          </a:xfrm>
          <a:prstGeom prst="rect">
            <a:avLst/>
          </a:prstGeom>
          <a:noFill/>
          <a:ln/>
        </p:spPr>
        <p:txBody>
          <a:bodyPr wrap="square" lIns="0" tIns="0" rIns="0" bIns="0" rtlCol="0" anchor="ctr"/>
          <a:lstStyle/>
          <a:p>
            <a:pPr algn="ctr" indent="0" marL="0">
              <a:buNone/>
            </a:pPr>
            <a:r>
              <a:rPr lang="en-US" sz="800" b="1" dirty="0">
                <a:solidFill>
                  <a:srgbClr val="FFFFFF"/>
                </a:solidFill>
              </a:rPr>
              <a:t>Recovery</a:t>
            </a:r>
            <a:endParaRPr lang="en-US" sz="800" dirty="0"/>
          </a:p>
        </p:txBody>
      </p:sp>
      <p:sp>
        <p:nvSpPr>
          <p:cNvPr id="21" name="Text 19"/>
          <p:cNvSpPr/>
          <p:nvPr/>
        </p:nvSpPr>
        <p:spPr>
          <a:xfrm>
            <a:off x="5468112" y="2029968"/>
            <a:ext cx="3154680" cy="658368"/>
          </a:xfrm>
          <a:prstGeom prst="rect">
            <a:avLst/>
          </a:prstGeom>
          <a:noFill/>
          <a:ln/>
        </p:spPr>
        <p:txBody>
          <a:bodyPr wrap="square" lIns="0" tIns="0" rIns="0" bIns="0" rtlCol="0" anchor="ctr"/>
          <a:lstStyle/>
          <a:p>
            <a:pPr algn="l" indent="0" marL="0">
              <a:buNone/>
            </a:pPr>
            <a:r>
              <a:rPr lang="en-US" sz="1400" b="1" dirty="0">
                <a:solidFill>
                  <a:srgbClr val="2D3748"/>
                </a:solidFill>
              </a:rPr>
              <a:t>What's the one recovery habit that actually moved the needle?</a:t>
            </a:r>
            <a:endParaRPr lang="en-US" sz="1400" dirty="0"/>
          </a:p>
        </p:txBody>
      </p:sp>
      <p:sp>
        <p:nvSpPr>
          <p:cNvPr id="22" name="Text 20"/>
          <p:cNvSpPr/>
          <p:nvPr/>
        </p:nvSpPr>
        <p:spPr>
          <a:xfrm>
            <a:off x="5468112" y="2724912"/>
            <a:ext cx="3154680" cy="804672"/>
          </a:xfrm>
          <a:prstGeom prst="rect">
            <a:avLst/>
          </a:prstGeom>
          <a:noFill/>
          <a:ln/>
        </p:spPr>
        <p:txBody>
          <a:bodyPr wrap="square" lIns="0" tIns="0" rIns="0" bIns="0" rtlCol="0" anchor="ctr"/>
          <a:lstStyle/>
          <a:p>
            <a:pPr algn="l" indent="0" marL="0">
              <a:buNone/>
            </a:pPr>
            <a:r>
              <a:rPr lang="en-US" sz="1000" dirty="0">
                <a:solidFill>
                  <a:srgbClr val="8898A8"/>
                </a:solidFill>
              </a:rPr>
              <a:t>A step-by-step guide to sleep + active recovery protocols that elite athletes use — and the science behind why they work.</a:t>
            </a:r>
            <a:endParaRPr lang="en-US" sz="1000" dirty="0"/>
          </a:p>
        </p:txBody>
      </p:sp>
      <p:sp>
        <p:nvSpPr>
          <p:cNvPr id="23" name="Text 21"/>
          <p:cNvSpPr/>
          <p:nvPr/>
        </p:nvSpPr>
        <p:spPr>
          <a:xfrm>
            <a:off x="5468112" y="3566160"/>
            <a:ext cx="3154680" cy="365760"/>
          </a:xfrm>
          <a:prstGeom prst="rect">
            <a:avLst/>
          </a:prstGeom>
          <a:noFill/>
          <a:ln/>
        </p:spPr>
        <p:txBody>
          <a:bodyPr wrap="square" lIns="0" tIns="0" rIns="0" bIns="0" rtlCol="0" anchor="ctr"/>
          <a:lstStyle/>
          <a:p>
            <a:pPr algn="l" indent="0" marL="0">
              <a:buNone/>
            </a:pPr>
            <a:r>
              <a:rPr lang="en-US" sz="900" i="1" dirty="0">
                <a:solidFill>
                  <a:srgbClr val="0D9488"/>
                </a:solidFill>
              </a:rPr>
              <a:t>Tuesday, 8:15 AM  ·  question hook  ·  recovery + how-to</a:t>
            </a:r>
            <a:endParaRPr lang="en-US" sz="900" dirty="0"/>
          </a:p>
        </p:txBody>
      </p:sp>
      <p:sp>
        <p:nvSpPr>
          <p:cNvPr id="24" name="Text 22"/>
          <p:cNvSpPr/>
          <p:nvPr/>
        </p:nvSpPr>
        <p:spPr>
          <a:xfrm>
            <a:off x="4251960" y="2606040"/>
            <a:ext cx="640080" cy="640080"/>
          </a:xfrm>
          <a:prstGeom prst="rect">
            <a:avLst/>
          </a:prstGeom>
          <a:noFill/>
          <a:ln/>
        </p:spPr>
        <p:txBody>
          <a:bodyPr wrap="square" lIns="0" tIns="0" rIns="0" bIns="0" rtlCol="0" anchor="ctr"/>
          <a:lstStyle/>
          <a:p>
            <a:pPr algn="ctr" indent="0" marL="0">
              <a:buNone/>
            </a:pPr>
            <a:r>
              <a:rPr lang="en-US" sz="3600" b="1" dirty="0">
                <a:solidFill>
                  <a:srgbClr val="0D9488"/>
                </a:solidFill>
              </a:rPr>
              <a:t>→</a:t>
            </a:r>
            <a:endParaRPr lang="en-US" sz="3600" dirty="0"/>
          </a:p>
        </p:txBody>
      </p:sp>
      <p:sp>
        <p:nvSpPr>
          <p:cNvPr id="25" name="Text 23"/>
          <p:cNvSpPr/>
          <p:nvPr/>
        </p:nvSpPr>
        <p:spPr>
          <a:xfrm>
            <a:off x="4187952" y="3246120"/>
            <a:ext cx="768096" cy="320040"/>
          </a:xfrm>
          <a:prstGeom prst="rect">
            <a:avLst/>
          </a:prstGeom>
          <a:noFill/>
          <a:ln/>
        </p:spPr>
        <p:txBody>
          <a:bodyPr wrap="square" lIns="0" tIns="0" rIns="0" bIns="0" rtlCol="0" anchor="ctr"/>
          <a:lstStyle/>
          <a:p>
            <a:pPr algn="ctr" indent="0" marL="0">
              <a:buNone/>
            </a:pPr>
            <a:r>
              <a:rPr lang="en-US" sz="1400" b="1" dirty="0">
                <a:solidFill>
                  <a:srgbClr val="F5A623"/>
                </a:solidFill>
              </a:rPr>
              <a:t>+37%</a:t>
            </a:r>
            <a:endParaRPr lang="en-US" sz="1400" dirty="0"/>
          </a:p>
        </p:txBody>
      </p:sp>
      <p:sp>
        <p:nvSpPr>
          <p:cNvPr id="26" name="Shape 24"/>
          <p:cNvSpPr/>
          <p:nvPr/>
        </p:nvSpPr>
        <p:spPr>
          <a:xfrm>
            <a:off x="0" y="4846320"/>
            <a:ext cx="9144000" cy="297180"/>
          </a:xfrm>
          <a:prstGeom prst="rect">
            <a:avLst/>
          </a:prstGeom>
          <a:solidFill>
            <a:srgbClr val="0F1F3D"/>
          </a:solidFill>
          <a:ln w="12700">
            <a:solidFill>
              <a:srgbClr val="0F1F3D"/>
            </a:solidFill>
            <a:prstDash val="solid"/>
          </a:ln>
        </p:spPr>
      </p:sp>
      <p:sp>
        <p:nvSpPr>
          <p:cNvPr id="27" name="Text 25"/>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10 / 13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F5A623"/>
                </a:solidFill>
              </a:rPr>
              <a:t>BEING HONEST</a:t>
            </a:r>
            <a:endParaRPr lang="en-US" sz="950" dirty="0"/>
          </a:p>
        </p:txBody>
      </p:sp>
      <p:sp>
        <p:nvSpPr>
          <p:cNvPr id="3" name="Text 1"/>
          <p:cNvSpPr/>
          <p:nvPr/>
        </p:nvSpPr>
        <p:spPr>
          <a:xfrm>
            <a:off x="502920" y="475488"/>
            <a:ext cx="8229600" cy="1234440"/>
          </a:xfrm>
          <a:prstGeom prst="rect">
            <a:avLst/>
          </a:prstGeom>
          <a:noFill/>
          <a:ln/>
        </p:spPr>
        <p:txBody>
          <a:bodyPr wrap="square" lIns="0" tIns="0" rIns="0" bIns="0"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What this system</a:t>
            </a:r>
            <a:endParaRPr lang="en-US" sz="3800" dirty="0"/>
          </a:p>
          <a:p>
            <a:pPr algn="l" indent="0" marL="0">
              <a:buNone/>
            </a:pPr>
            <a:r>
              <a:rPr lang="en-US" sz="3800" b="1" dirty="0">
                <a:solidFill>
                  <a:srgbClr val="FFFFFF"/>
                </a:solidFill>
                <a:latin typeface="Georgia" pitchFamily="34" charset="0"/>
                <a:ea typeface="Georgia" pitchFamily="34" charset="-122"/>
                <a:cs typeface="Georgia" pitchFamily="34" charset="-120"/>
              </a:rPr>
              <a:t>can — and can't — do.</a:t>
            </a:r>
            <a:endParaRPr lang="en-US" sz="3800" dirty="0"/>
          </a:p>
        </p:txBody>
      </p:sp>
      <p:sp>
        <p:nvSpPr>
          <p:cNvPr id="4" name="Shape 2"/>
          <p:cNvSpPr/>
          <p:nvPr/>
        </p:nvSpPr>
        <p:spPr>
          <a:xfrm>
            <a:off x="365760" y="1874520"/>
            <a:ext cx="3931920" cy="2743200"/>
          </a:xfrm>
          <a:prstGeom prst="rect">
            <a:avLst/>
          </a:prstGeom>
          <a:solidFill>
            <a:srgbClr val="FFFFFF">
              <a:alpha val="12000"/>
            </a:srgbClr>
          </a:solidFill>
          <a:ln/>
        </p:spPr>
      </p:sp>
      <p:sp>
        <p:nvSpPr>
          <p:cNvPr id="5" name="Shape 3"/>
          <p:cNvSpPr/>
          <p:nvPr/>
        </p:nvSpPr>
        <p:spPr>
          <a:xfrm>
            <a:off x="365760" y="1874520"/>
            <a:ext cx="3931920" cy="54864"/>
          </a:xfrm>
          <a:prstGeom prst="rect">
            <a:avLst/>
          </a:prstGeom>
          <a:solidFill>
            <a:srgbClr val="0D9488"/>
          </a:solidFill>
          <a:ln w="12700">
            <a:solidFill>
              <a:srgbClr val="0D9488"/>
            </a:solidFill>
            <a:prstDash val="solid"/>
          </a:ln>
        </p:spPr>
      </p:sp>
      <p:sp>
        <p:nvSpPr>
          <p:cNvPr id="6" name="Text 4"/>
          <p:cNvSpPr/>
          <p:nvPr/>
        </p:nvSpPr>
        <p:spPr>
          <a:xfrm>
            <a:off x="502920" y="1938528"/>
            <a:ext cx="3657600" cy="320040"/>
          </a:xfrm>
          <a:prstGeom prst="rect">
            <a:avLst/>
          </a:prstGeom>
          <a:noFill/>
          <a:ln/>
        </p:spPr>
        <p:txBody>
          <a:bodyPr wrap="square" lIns="0" tIns="0" rIns="0" bIns="0" rtlCol="0" anchor="ctr"/>
          <a:lstStyle/>
          <a:p>
            <a:pPr algn="l" indent="0" marL="0">
              <a:buNone/>
            </a:pPr>
            <a:r>
              <a:rPr lang="en-US" sz="1300" b="1" spc="200" kern="0" dirty="0">
                <a:solidFill>
                  <a:srgbClr val="6ECDC4"/>
                </a:solidFill>
              </a:rPr>
              <a:t>Ethics</a:t>
            </a:r>
            <a:endParaRPr lang="en-US" sz="1300" dirty="0"/>
          </a:p>
        </p:txBody>
      </p:sp>
      <p:sp>
        <p:nvSpPr>
          <p:cNvPr id="7" name="Text 5"/>
          <p:cNvSpPr/>
          <p:nvPr/>
        </p:nvSpPr>
        <p:spPr>
          <a:xfrm>
            <a:off x="502920" y="2331720"/>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Aggregate data only — no user profiles, no usernames retained</a:t>
            </a:r>
            <a:endParaRPr lang="en-US" sz="1050" dirty="0"/>
          </a:p>
        </p:txBody>
      </p:sp>
      <p:sp>
        <p:nvSpPr>
          <p:cNvPr id="8" name="Text 6"/>
          <p:cNvSpPr/>
          <p:nvPr/>
        </p:nvSpPr>
        <p:spPr>
          <a:xfrm>
            <a:off x="502920" y="2843784"/>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Collector throttled; scraper respects robots.txt throughout</a:t>
            </a:r>
            <a:endParaRPr lang="en-US" sz="1050" dirty="0"/>
          </a:p>
        </p:txBody>
      </p:sp>
      <p:sp>
        <p:nvSpPr>
          <p:cNvPr id="9" name="Text 7"/>
          <p:cNvSpPr/>
          <p:nvPr/>
        </p:nvSpPr>
        <p:spPr>
          <a:xfrm>
            <a:off x="502920" y="3355848"/>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Every AI draft carries an AI disclosure (FTC May 2026 guidance)</a:t>
            </a:r>
            <a:endParaRPr lang="en-US" sz="1050" dirty="0"/>
          </a:p>
        </p:txBody>
      </p:sp>
      <p:sp>
        <p:nvSpPr>
          <p:cNvPr id="10" name="Text 8"/>
          <p:cNvSpPr/>
          <p:nvPr/>
        </p:nvSpPr>
        <p:spPr>
          <a:xfrm>
            <a:off x="502920" y="3867912"/>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Scoped out: political persuasion, health claims, financial advice</a:t>
            </a:r>
            <a:endParaRPr lang="en-US" sz="1050" dirty="0"/>
          </a:p>
        </p:txBody>
      </p:sp>
      <p:sp>
        <p:nvSpPr>
          <p:cNvPr id="11" name="Shape 9"/>
          <p:cNvSpPr/>
          <p:nvPr/>
        </p:nvSpPr>
        <p:spPr>
          <a:xfrm>
            <a:off x="4846320" y="1874520"/>
            <a:ext cx="3931920" cy="2743200"/>
          </a:xfrm>
          <a:prstGeom prst="rect">
            <a:avLst/>
          </a:prstGeom>
          <a:solidFill>
            <a:srgbClr val="FFFFFF">
              <a:alpha val="12000"/>
            </a:srgbClr>
          </a:solidFill>
          <a:ln/>
        </p:spPr>
      </p:sp>
      <p:sp>
        <p:nvSpPr>
          <p:cNvPr id="12" name="Shape 10"/>
          <p:cNvSpPr/>
          <p:nvPr/>
        </p:nvSpPr>
        <p:spPr>
          <a:xfrm>
            <a:off x="4846320" y="1874520"/>
            <a:ext cx="3931920" cy="54864"/>
          </a:xfrm>
          <a:prstGeom prst="rect">
            <a:avLst/>
          </a:prstGeom>
          <a:solidFill>
            <a:srgbClr val="F5A623"/>
          </a:solidFill>
          <a:ln w="12700">
            <a:solidFill>
              <a:srgbClr val="F5A623"/>
            </a:solidFill>
            <a:prstDash val="solid"/>
          </a:ln>
        </p:spPr>
      </p:sp>
      <p:sp>
        <p:nvSpPr>
          <p:cNvPr id="13" name="Text 11"/>
          <p:cNvSpPr/>
          <p:nvPr/>
        </p:nvSpPr>
        <p:spPr>
          <a:xfrm>
            <a:off x="4983480" y="1938528"/>
            <a:ext cx="3657600" cy="320040"/>
          </a:xfrm>
          <a:prstGeom prst="rect">
            <a:avLst/>
          </a:prstGeom>
          <a:noFill/>
          <a:ln/>
        </p:spPr>
        <p:txBody>
          <a:bodyPr wrap="square" lIns="0" tIns="0" rIns="0" bIns="0" rtlCol="0" anchor="ctr"/>
          <a:lstStyle/>
          <a:p>
            <a:pPr algn="l" indent="0" marL="0">
              <a:buNone/>
            </a:pPr>
            <a:r>
              <a:rPr lang="en-US" sz="1300" b="1" spc="200" kern="0" dirty="0">
                <a:solidFill>
                  <a:srgbClr val="F5A623"/>
                </a:solidFill>
              </a:rPr>
              <a:t>Limitations</a:t>
            </a:r>
            <a:endParaRPr lang="en-US" sz="1300" dirty="0"/>
          </a:p>
        </p:txBody>
      </p:sp>
      <p:sp>
        <p:nvSpPr>
          <p:cNvPr id="14" name="Text 12"/>
          <p:cNvSpPr/>
          <p:nvPr/>
        </p:nvSpPr>
        <p:spPr>
          <a:xfrm>
            <a:off x="4983480" y="2331720"/>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Synthetic corpus — exact magnitudes may shift on live data</a:t>
            </a:r>
            <a:endParaRPr lang="en-US" sz="1050" dirty="0"/>
          </a:p>
        </p:txBody>
      </p:sp>
      <p:sp>
        <p:nvSpPr>
          <p:cNvPr id="15" name="Text 13"/>
          <p:cNvSpPr/>
          <p:nvPr/>
        </p:nvSpPr>
        <p:spPr>
          <a:xfrm>
            <a:off x="4983480" y="2843784"/>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Predicted ≠ realized engagement; A/B test required to confirm</a:t>
            </a:r>
            <a:endParaRPr lang="en-US" sz="1050" dirty="0"/>
          </a:p>
        </p:txBody>
      </p:sp>
      <p:sp>
        <p:nvSpPr>
          <p:cNvPr id="16" name="Text 14"/>
          <p:cNvSpPr/>
          <p:nvPr/>
        </p:nvSpPr>
        <p:spPr>
          <a:xfrm>
            <a:off x="4983480" y="3355848"/>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Subreddit size is the biggest effect — omitting it biases results</a:t>
            </a:r>
            <a:endParaRPr lang="en-US" sz="1050" dirty="0"/>
          </a:p>
        </p:txBody>
      </p:sp>
      <p:sp>
        <p:nvSpPr>
          <p:cNvPr id="17" name="Text 15"/>
          <p:cNvSpPr/>
          <p:nvPr/>
        </p:nvSpPr>
        <p:spPr>
          <a:xfrm>
            <a:off x="4983480" y="3867912"/>
            <a:ext cx="3657600" cy="438912"/>
          </a:xfrm>
          <a:prstGeom prst="rect">
            <a:avLst/>
          </a:prstGeom>
          <a:noFill/>
          <a:ln/>
        </p:spPr>
        <p:txBody>
          <a:bodyPr wrap="square" lIns="0" tIns="0" rIns="0" bIns="0" rtlCol="0" anchor="ctr"/>
          <a:lstStyle/>
          <a:p>
            <a:pPr algn="l" indent="0" marL="0">
              <a:buNone/>
            </a:pPr>
            <a:r>
              <a:rPr lang="en-US" sz="1050" dirty="0">
                <a:solidFill>
                  <a:srgbClr val="FFFFFF"/>
                </a:solidFill>
              </a:rPr>
              <a:t>📡  Trends lead-lag is per-topic, not a blanket rule</a:t>
            </a:r>
            <a:endParaRPr lang="en-US" sz="1050" dirty="0"/>
          </a:p>
        </p:txBody>
      </p:sp>
      <p:sp>
        <p:nvSpPr>
          <p:cNvPr id="18" name="Shape 16"/>
          <p:cNvSpPr/>
          <p:nvPr/>
        </p:nvSpPr>
        <p:spPr>
          <a:xfrm>
            <a:off x="365760" y="4681728"/>
            <a:ext cx="8412480" cy="73152"/>
          </a:xfrm>
          <a:prstGeom prst="rect">
            <a:avLst/>
          </a:prstGeom>
          <a:solidFill>
            <a:srgbClr val="0D9488"/>
          </a:solidFill>
          <a:ln w="12700">
            <a:solidFill>
              <a:srgbClr val="0D9488"/>
            </a:solidFill>
            <a:prstDash val="solid"/>
          </a:ln>
        </p:spPr>
      </p:sp>
      <p:sp>
        <p:nvSpPr>
          <p:cNvPr id="19" name="Shape 17"/>
          <p:cNvSpPr/>
          <p:nvPr/>
        </p:nvSpPr>
        <p:spPr>
          <a:xfrm>
            <a:off x="0" y="4846320"/>
            <a:ext cx="9144000" cy="297180"/>
          </a:xfrm>
          <a:prstGeom prst="rect">
            <a:avLst/>
          </a:prstGeom>
          <a:solidFill>
            <a:srgbClr val="0F1F3D"/>
          </a:solidFill>
          <a:ln w="12700">
            <a:solidFill>
              <a:srgbClr val="0F1F3D"/>
            </a:solidFill>
            <a:prstDash val="solid"/>
          </a:ln>
        </p:spPr>
      </p:sp>
      <p:sp>
        <p:nvSpPr>
          <p:cNvPr id="20" name="Text 18"/>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11 / 13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p:bgPr>
    </p:bg>
    <p:spTree>
      <p:nvGrpSpPr>
        <p:cNvPr id="1" name=""/>
        <p:cNvGrpSpPr/>
        <p:nvPr/>
      </p:nvGrpSpPr>
      <p:grpSpPr>
        <a:xfrm>
          <a:off x="0" y="0"/>
          <a:ext cx="0" cy="0"/>
          <a:chOff x="0" y="0"/>
          <a:chExt cx="0" cy="0"/>
        </a:xfrm>
      </p:grpSpPr>
      <p:sp>
        <p:nvSpPr>
          <p:cNvPr id="2" name="Text 0"/>
          <p:cNvSpPr/>
          <p:nvPr/>
        </p:nvSpPr>
        <p:spPr>
          <a:xfrm>
            <a:off x="502920" y="164592"/>
            <a:ext cx="8229600" cy="292608"/>
          </a:xfrm>
          <a:prstGeom prst="rect">
            <a:avLst/>
          </a:prstGeom>
          <a:noFill/>
          <a:ln/>
        </p:spPr>
        <p:txBody>
          <a:bodyPr wrap="square" lIns="0" tIns="0" rIns="0" bIns="0" rtlCol="0" anchor="ctr"/>
          <a:lstStyle/>
          <a:p>
            <a:pPr algn="l" indent="0" marL="0">
              <a:buNone/>
            </a:pPr>
            <a:r>
              <a:rPr lang="en-US" sz="950" b="1" spc="400" kern="0" dirty="0">
                <a:solidFill>
                  <a:srgbClr val="0D9488"/>
                </a:solidFill>
              </a:rPr>
              <a:t>THE PLAYBOOK — STARTING MONDAY</a:t>
            </a:r>
            <a:endParaRPr lang="en-US" sz="950" dirty="0"/>
          </a:p>
        </p:txBody>
      </p:sp>
      <p:sp>
        <p:nvSpPr>
          <p:cNvPr id="3" name="Text 1"/>
          <p:cNvSpPr/>
          <p:nvPr/>
        </p:nvSpPr>
        <p:spPr>
          <a:xfrm>
            <a:off x="457200" y="475488"/>
            <a:ext cx="8229600" cy="658368"/>
          </a:xfrm>
          <a:prstGeom prst="rect">
            <a:avLst/>
          </a:prstGeom>
          <a:noFill/>
          <a:ln/>
        </p:spPr>
        <p:txBody>
          <a:bodyPr wrap="square" lIns="0" tIns="0" rIns="0" bIns="0" rtlCol="0" anchor="ctr"/>
          <a:lstStyle/>
          <a:p>
            <a:pPr algn="l" indent="0" marL="0">
              <a:buNone/>
            </a:pPr>
            <a:r>
              <a:rPr lang="en-US" sz="2800" b="1" dirty="0">
                <a:solidFill>
                  <a:srgbClr val="0F1F3D"/>
                </a:solidFill>
                <a:latin typeface="Georgia" pitchFamily="34" charset="0"/>
                <a:ea typeface="Georgia" pitchFamily="34" charset="-122"/>
                <a:cs typeface="Georgia" pitchFamily="34" charset="-120"/>
              </a:rPr>
              <a:t>Five moves. One tool. No more guessing.</a:t>
            </a:r>
            <a:endParaRPr lang="en-US" sz="2800" dirty="0"/>
          </a:p>
        </p:txBody>
      </p:sp>
      <p:sp>
        <p:nvSpPr>
          <p:cNvPr id="4" name="Shape 2"/>
          <p:cNvSpPr/>
          <p:nvPr/>
        </p:nvSpPr>
        <p:spPr>
          <a:xfrm>
            <a:off x="365760" y="1280160"/>
            <a:ext cx="4480560" cy="576072"/>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5" name="Shape 3"/>
          <p:cNvSpPr/>
          <p:nvPr/>
        </p:nvSpPr>
        <p:spPr>
          <a:xfrm>
            <a:off x="420624" y="1353312"/>
            <a:ext cx="429768" cy="429768"/>
          </a:xfrm>
          <a:prstGeom prst="ellipse">
            <a:avLst/>
          </a:prstGeom>
          <a:solidFill>
            <a:srgbClr val="1A5FA8"/>
          </a:solidFill>
          <a:ln w="12700">
            <a:solidFill>
              <a:srgbClr val="1A5FA8"/>
            </a:solidFill>
            <a:prstDash val="solid"/>
          </a:ln>
        </p:spPr>
      </p:sp>
      <p:sp>
        <p:nvSpPr>
          <p:cNvPr id="6" name="Text 4"/>
          <p:cNvSpPr/>
          <p:nvPr/>
        </p:nvSpPr>
        <p:spPr>
          <a:xfrm>
            <a:off x="420624" y="1353312"/>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p:nvPr/>
        </p:nvSpPr>
        <p:spPr>
          <a:xfrm>
            <a:off x="950976" y="1316736"/>
            <a:ext cx="1005840" cy="256032"/>
          </a:xfrm>
          <a:prstGeom prst="rect">
            <a:avLst/>
          </a:prstGeom>
          <a:noFill/>
          <a:ln/>
        </p:spPr>
        <p:txBody>
          <a:bodyPr wrap="square" lIns="0" tIns="0" rIns="0" bIns="0" rtlCol="0" anchor="ctr"/>
          <a:lstStyle/>
          <a:p>
            <a:pPr algn="l" indent="0" marL="0">
              <a:buNone/>
            </a:pPr>
            <a:r>
              <a:rPr lang="en-US" sz="1200" b="1" dirty="0">
                <a:solidFill>
                  <a:srgbClr val="0F1F3D"/>
                </a:solidFill>
              </a:rPr>
              <a:t>Topic</a:t>
            </a:r>
            <a:endParaRPr lang="en-US" sz="1200" dirty="0"/>
          </a:p>
        </p:txBody>
      </p:sp>
      <p:sp>
        <p:nvSpPr>
          <p:cNvPr id="8" name="Text 6"/>
          <p:cNvSpPr/>
          <p:nvPr/>
        </p:nvSpPr>
        <p:spPr>
          <a:xfrm>
            <a:off x="950976" y="1572768"/>
            <a:ext cx="3749040" cy="237744"/>
          </a:xfrm>
          <a:prstGeom prst="rect">
            <a:avLst/>
          </a:prstGeom>
          <a:noFill/>
          <a:ln/>
        </p:spPr>
        <p:txBody>
          <a:bodyPr wrap="square" lIns="0" tIns="0" rIns="0" bIns="0" rtlCol="0" anchor="ctr"/>
          <a:lstStyle/>
          <a:p>
            <a:pPr algn="l" indent="0" marL="0">
              <a:buNone/>
            </a:pPr>
            <a:r>
              <a:rPr lang="en-US" sz="1050" dirty="0">
                <a:solidFill>
                  <a:srgbClr val="8898A8"/>
                </a:solidFill>
              </a:rPr>
              <a:t>Recovery · Sleep · Mental</a:t>
            </a:r>
            <a:endParaRPr lang="en-US" sz="1050" dirty="0"/>
          </a:p>
        </p:txBody>
      </p:sp>
      <p:sp>
        <p:nvSpPr>
          <p:cNvPr id="9" name="Shape 7"/>
          <p:cNvSpPr/>
          <p:nvPr/>
        </p:nvSpPr>
        <p:spPr>
          <a:xfrm>
            <a:off x="365760" y="1938528"/>
            <a:ext cx="4480560" cy="576072"/>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0" name="Shape 8"/>
          <p:cNvSpPr/>
          <p:nvPr/>
        </p:nvSpPr>
        <p:spPr>
          <a:xfrm>
            <a:off x="420624" y="2011680"/>
            <a:ext cx="429768" cy="429768"/>
          </a:xfrm>
          <a:prstGeom prst="ellipse">
            <a:avLst/>
          </a:prstGeom>
          <a:solidFill>
            <a:srgbClr val="0D9488"/>
          </a:solidFill>
          <a:ln w="12700">
            <a:solidFill>
              <a:srgbClr val="0D9488"/>
            </a:solidFill>
            <a:prstDash val="solid"/>
          </a:ln>
        </p:spPr>
      </p:sp>
      <p:sp>
        <p:nvSpPr>
          <p:cNvPr id="11" name="Text 9"/>
          <p:cNvSpPr/>
          <p:nvPr/>
        </p:nvSpPr>
        <p:spPr>
          <a:xfrm>
            <a:off x="420624" y="2011680"/>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p:nvPr/>
        </p:nvSpPr>
        <p:spPr>
          <a:xfrm>
            <a:off x="950976" y="1975104"/>
            <a:ext cx="1005840" cy="256032"/>
          </a:xfrm>
          <a:prstGeom prst="rect">
            <a:avLst/>
          </a:prstGeom>
          <a:noFill/>
          <a:ln/>
        </p:spPr>
        <p:txBody>
          <a:bodyPr wrap="square" lIns="0" tIns="0" rIns="0" bIns="0" rtlCol="0" anchor="ctr"/>
          <a:lstStyle/>
          <a:p>
            <a:pPr algn="l" indent="0" marL="0">
              <a:buNone/>
            </a:pPr>
            <a:r>
              <a:rPr lang="en-US" sz="1200" b="1" dirty="0">
                <a:solidFill>
                  <a:srgbClr val="0F1F3D"/>
                </a:solidFill>
              </a:rPr>
              <a:t>Format</a:t>
            </a:r>
            <a:endParaRPr lang="en-US" sz="1200" dirty="0"/>
          </a:p>
        </p:txBody>
      </p:sp>
      <p:sp>
        <p:nvSpPr>
          <p:cNvPr id="13" name="Text 11"/>
          <p:cNvSpPr/>
          <p:nvPr/>
        </p:nvSpPr>
        <p:spPr>
          <a:xfrm>
            <a:off x="950976" y="2231136"/>
            <a:ext cx="3749040" cy="237744"/>
          </a:xfrm>
          <a:prstGeom prst="rect">
            <a:avLst/>
          </a:prstGeom>
          <a:noFill/>
          <a:ln/>
        </p:spPr>
        <p:txBody>
          <a:bodyPr wrap="square" lIns="0" tIns="0" rIns="0" bIns="0" rtlCol="0" anchor="ctr"/>
          <a:lstStyle/>
          <a:p>
            <a:pPr algn="l" indent="0" marL="0">
              <a:buNone/>
            </a:pPr>
            <a:r>
              <a:rPr lang="en-US" sz="1050" dirty="0">
                <a:solidFill>
                  <a:srgbClr val="8898A8"/>
                </a:solidFill>
              </a:rPr>
              <a:t>How-to + Case study per week</a:t>
            </a:r>
            <a:endParaRPr lang="en-US" sz="1050" dirty="0"/>
          </a:p>
        </p:txBody>
      </p:sp>
      <p:sp>
        <p:nvSpPr>
          <p:cNvPr id="14" name="Shape 12"/>
          <p:cNvSpPr/>
          <p:nvPr/>
        </p:nvSpPr>
        <p:spPr>
          <a:xfrm>
            <a:off x="365760" y="2596896"/>
            <a:ext cx="4480560" cy="576072"/>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15" name="Shape 13"/>
          <p:cNvSpPr/>
          <p:nvPr/>
        </p:nvSpPr>
        <p:spPr>
          <a:xfrm>
            <a:off x="420624" y="2670048"/>
            <a:ext cx="429768" cy="429768"/>
          </a:xfrm>
          <a:prstGeom prst="ellipse">
            <a:avLst/>
          </a:prstGeom>
          <a:solidFill>
            <a:srgbClr val="1A5FA8"/>
          </a:solidFill>
          <a:ln w="12700">
            <a:solidFill>
              <a:srgbClr val="1A5FA8"/>
            </a:solidFill>
            <a:prstDash val="solid"/>
          </a:ln>
        </p:spPr>
      </p:sp>
      <p:sp>
        <p:nvSpPr>
          <p:cNvPr id="16" name="Text 14"/>
          <p:cNvSpPr/>
          <p:nvPr/>
        </p:nvSpPr>
        <p:spPr>
          <a:xfrm>
            <a:off x="420624" y="2670048"/>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p:nvPr/>
        </p:nvSpPr>
        <p:spPr>
          <a:xfrm>
            <a:off x="950976" y="2633472"/>
            <a:ext cx="1005840" cy="256032"/>
          </a:xfrm>
          <a:prstGeom prst="rect">
            <a:avLst/>
          </a:prstGeom>
          <a:noFill/>
          <a:ln/>
        </p:spPr>
        <p:txBody>
          <a:bodyPr wrap="square" lIns="0" tIns="0" rIns="0" bIns="0" rtlCol="0" anchor="ctr"/>
          <a:lstStyle/>
          <a:p>
            <a:pPr algn="l" indent="0" marL="0">
              <a:buNone/>
            </a:pPr>
            <a:r>
              <a:rPr lang="en-US" sz="1200" b="1" dirty="0">
                <a:solidFill>
                  <a:srgbClr val="0F1F3D"/>
                </a:solidFill>
              </a:rPr>
              <a:t>Hook</a:t>
            </a:r>
            <a:endParaRPr lang="en-US" sz="1200" dirty="0"/>
          </a:p>
        </p:txBody>
      </p:sp>
      <p:sp>
        <p:nvSpPr>
          <p:cNvPr id="18" name="Text 16"/>
          <p:cNvSpPr/>
          <p:nvPr/>
        </p:nvSpPr>
        <p:spPr>
          <a:xfrm>
            <a:off x="950976" y="2889504"/>
            <a:ext cx="3749040" cy="237744"/>
          </a:xfrm>
          <a:prstGeom prst="rect">
            <a:avLst/>
          </a:prstGeom>
          <a:noFill/>
          <a:ln/>
        </p:spPr>
        <p:txBody>
          <a:bodyPr wrap="square" lIns="0" tIns="0" rIns="0" bIns="0" rtlCol="0" anchor="ctr"/>
          <a:lstStyle/>
          <a:p>
            <a:pPr algn="l" indent="0" marL="0">
              <a:buNone/>
            </a:pPr>
            <a:r>
              <a:rPr lang="en-US" sz="1050" dirty="0">
                <a:solidFill>
                  <a:srgbClr val="8898A8"/>
                </a:solidFill>
              </a:rPr>
              <a:t>Start with a question or challenge</a:t>
            </a:r>
            <a:endParaRPr lang="en-US" sz="1050" dirty="0"/>
          </a:p>
        </p:txBody>
      </p:sp>
      <p:sp>
        <p:nvSpPr>
          <p:cNvPr id="19" name="Shape 17"/>
          <p:cNvSpPr/>
          <p:nvPr/>
        </p:nvSpPr>
        <p:spPr>
          <a:xfrm>
            <a:off x="365760" y="3255264"/>
            <a:ext cx="4480560" cy="576072"/>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20" name="Shape 18"/>
          <p:cNvSpPr/>
          <p:nvPr/>
        </p:nvSpPr>
        <p:spPr>
          <a:xfrm>
            <a:off x="420624" y="3328416"/>
            <a:ext cx="429768" cy="429768"/>
          </a:xfrm>
          <a:prstGeom prst="ellipse">
            <a:avLst/>
          </a:prstGeom>
          <a:solidFill>
            <a:srgbClr val="0D9488"/>
          </a:solidFill>
          <a:ln w="12700">
            <a:solidFill>
              <a:srgbClr val="0D9488"/>
            </a:solidFill>
            <a:prstDash val="solid"/>
          </a:ln>
        </p:spPr>
      </p:sp>
      <p:sp>
        <p:nvSpPr>
          <p:cNvPr id="21" name="Text 19"/>
          <p:cNvSpPr/>
          <p:nvPr/>
        </p:nvSpPr>
        <p:spPr>
          <a:xfrm>
            <a:off x="420624" y="3328416"/>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2" name="Text 20"/>
          <p:cNvSpPr/>
          <p:nvPr/>
        </p:nvSpPr>
        <p:spPr>
          <a:xfrm>
            <a:off x="950976" y="3291840"/>
            <a:ext cx="1005840" cy="256032"/>
          </a:xfrm>
          <a:prstGeom prst="rect">
            <a:avLst/>
          </a:prstGeom>
          <a:noFill/>
          <a:ln/>
        </p:spPr>
        <p:txBody>
          <a:bodyPr wrap="square" lIns="0" tIns="0" rIns="0" bIns="0" rtlCol="0" anchor="ctr"/>
          <a:lstStyle/>
          <a:p>
            <a:pPr algn="l" indent="0" marL="0">
              <a:buNone/>
            </a:pPr>
            <a:r>
              <a:rPr lang="en-US" sz="1200" b="1" dirty="0">
                <a:solidFill>
                  <a:srgbClr val="0F1F3D"/>
                </a:solidFill>
              </a:rPr>
              <a:t>Timing</a:t>
            </a:r>
            <a:endParaRPr lang="en-US" sz="1200" dirty="0"/>
          </a:p>
        </p:txBody>
      </p:sp>
      <p:sp>
        <p:nvSpPr>
          <p:cNvPr id="23" name="Text 21"/>
          <p:cNvSpPr/>
          <p:nvPr/>
        </p:nvSpPr>
        <p:spPr>
          <a:xfrm>
            <a:off x="950976" y="3547872"/>
            <a:ext cx="3749040" cy="237744"/>
          </a:xfrm>
          <a:prstGeom prst="rect">
            <a:avLst/>
          </a:prstGeom>
          <a:noFill/>
          <a:ln/>
        </p:spPr>
        <p:txBody>
          <a:bodyPr wrap="square" lIns="0" tIns="0" rIns="0" bIns="0" rtlCol="0" anchor="ctr"/>
          <a:lstStyle/>
          <a:p>
            <a:pPr algn="l" indent="0" marL="0">
              <a:buNone/>
            </a:pPr>
            <a:r>
              <a:rPr lang="en-US" sz="1050" dirty="0">
                <a:solidFill>
                  <a:srgbClr val="8898A8"/>
                </a:solidFill>
              </a:rPr>
              <a:t>Publish Tue–Thu, 7–11 AM</a:t>
            </a:r>
            <a:endParaRPr lang="en-US" sz="1050" dirty="0"/>
          </a:p>
        </p:txBody>
      </p:sp>
      <p:sp>
        <p:nvSpPr>
          <p:cNvPr id="24" name="Shape 22"/>
          <p:cNvSpPr/>
          <p:nvPr/>
        </p:nvSpPr>
        <p:spPr>
          <a:xfrm>
            <a:off x="365760" y="3913632"/>
            <a:ext cx="4480560" cy="576072"/>
          </a:xfrm>
          <a:prstGeom prst="rect">
            <a:avLst/>
          </a:prstGeom>
          <a:solidFill>
            <a:srgbClr val="FFFFFF"/>
          </a:solidFill>
          <a:ln/>
          <a:effectLst>
            <a:outerShdw sx="100000" sy="100000" kx="0" ky="0" algn="bl" rotWithShape="0" blurRad="152400" dist="38100" dir="8100000">
              <a:srgbClr val="000000">
                <a:alpha val="12000"/>
              </a:srgbClr>
            </a:outerShdw>
          </a:effectLst>
        </p:spPr>
      </p:sp>
      <p:sp>
        <p:nvSpPr>
          <p:cNvPr id="25" name="Shape 23"/>
          <p:cNvSpPr/>
          <p:nvPr/>
        </p:nvSpPr>
        <p:spPr>
          <a:xfrm>
            <a:off x="420624" y="3986784"/>
            <a:ext cx="429768" cy="429768"/>
          </a:xfrm>
          <a:prstGeom prst="ellipse">
            <a:avLst/>
          </a:prstGeom>
          <a:solidFill>
            <a:srgbClr val="F5A623"/>
          </a:solidFill>
          <a:ln w="12700">
            <a:solidFill>
              <a:srgbClr val="F5A623"/>
            </a:solidFill>
            <a:prstDash val="solid"/>
          </a:ln>
        </p:spPr>
      </p:sp>
      <p:sp>
        <p:nvSpPr>
          <p:cNvPr id="26" name="Text 24"/>
          <p:cNvSpPr/>
          <p:nvPr/>
        </p:nvSpPr>
        <p:spPr>
          <a:xfrm>
            <a:off x="420624" y="3986784"/>
            <a:ext cx="429768" cy="429768"/>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7" name="Text 25"/>
          <p:cNvSpPr/>
          <p:nvPr/>
        </p:nvSpPr>
        <p:spPr>
          <a:xfrm>
            <a:off x="950976" y="3950208"/>
            <a:ext cx="1005840" cy="256032"/>
          </a:xfrm>
          <a:prstGeom prst="rect">
            <a:avLst/>
          </a:prstGeom>
          <a:noFill/>
          <a:ln/>
        </p:spPr>
        <p:txBody>
          <a:bodyPr wrap="square" lIns="0" tIns="0" rIns="0" bIns="0" rtlCol="0" anchor="ctr"/>
          <a:lstStyle/>
          <a:p>
            <a:pPr algn="l" indent="0" marL="0">
              <a:buNone/>
            </a:pPr>
            <a:r>
              <a:rPr lang="en-US" sz="1200" b="1" dirty="0">
                <a:solidFill>
                  <a:srgbClr val="0F1F3D"/>
                </a:solidFill>
              </a:rPr>
              <a:t>AI drafts</a:t>
            </a:r>
            <a:endParaRPr lang="en-US" sz="1200" dirty="0"/>
          </a:p>
        </p:txBody>
      </p:sp>
      <p:sp>
        <p:nvSpPr>
          <p:cNvPr id="28" name="Text 26"/>
          <p:cNvSpPr/>
          <p:nvPr/>
        </p:nvSpPr>
        <p:spPr>
          <a:xfrm>
            <a:off x="950976" y="4206240"/>
            <a:ext cx="3749040" cy="237744"/>
          </a:xfrm>
          <a:prstGeom prst="rect">
            <a:avLst/>
          </a:prstGeom>
          <a:noFill/>
          <a:ln/>
        </p:spPr>
        <p:txBody>
          <a:bodyPr wrap="square" lIns="0" tIns="0" rIns="0" bIns="0" rtlCol="0" anchor="ctr"/>
          <a:lstStyle/>
          <a:p>
            <a:pPr algn="l" indent="0" marL="0">
              <a:buNone/>
            </a:pPr>
            <a:r>
              <a:rPr lang="en-US" sz="1050" dirty="0">
                <a:solidFill>
                  <a:srgbClr val="8898A8"/>
                </a:solidFill>
              </a:rPr>
              <a:t>Use engine output as Variant A in A/B</a:t>
            </a:r>
            <a:endParaRPr lang="en-US" sz="1050" dirty="0"/>
          </a:p>
        </p:txBody>
      </p:sp>
      <p:sp>
        <p:nvSpPr>
          <p:cNvPr id="29" name="Shape 27"/>
          <p:cNvSpPr/>
          <p:nvPr/>
        </p:nvSpPr>
        <p:spPr>
          <a:xfrm>
            <a:off x="5074920" y="1261872"/>
            <a:ext cx="3703320" cy="3383280"/>
          </a:xfrm>
          <a:prstGeom prst="rect">
            <a:avLst/>
          </a:prstGeom>
          <a:solidFill>
            <a:srgbClr val="E6EEF6"/>
          </a:solidFill>
          <a:ln/>
          <a:effectLst>
            <a:outerShdw sx="100000" sy="100000" kx="0" ky="0" algn="bl" rotWithShape="0" blurRad="152400" dist="38100" dir="8100000">
              <a:srgbClr val="000000">
                <a:alpha val="12000"/>
              </a:srgbClr>
            </a:outerShdw>
          </a:effectLst>
        </p:spPr>
      </p:sp>
      <p:sp>
        <p:nvSpPr>
          <p:cNvPr id="30" name="Shape 28"/>
          <p:cNvSpPr/>
          <p:nvPr/>
        </p:nvSpPr>
        <p:spPr>
          <a:xfrm>
            <a:off x="5074920" y="1261872"/>
            <a:ext cx="3703320" cy="274320"/>
          </a:xfrm>
          <a:prstGeom prst="rect">
            <a:avLst/>
          </a:prstGeom>
          <a:solidFill>
            <a:srgbClr val="CDD8E8"/>
          </a:solidFill>
          <a:ln/>
        </p:spPr>
      </p:sp>
      <p:sp>
        <p:nvSpPr>
          <p:cNvPr id="31" name="Shape 29"/>
          <p:cNvSpPr/>
          <p:nvPr/>
        </p:nvSpPr>
        <p:spPr>
          <a:xfrm>
            <a:off x="5175504" y="1325880"/>
            <a:ext cx="91440" cy="91440"/>
          </a:xfrm>
          <a:prstGeom prst="ellipse">
            <a:avLst/>
          </a:prstGeom>
          <a:solidFill>
            <a:srgbClr val="E8472D"/>
          </a:solidFill>
          <a:ln w="12700">
            <a:solidFill>
              <a:srgbClr val="E8472D"/>
            </a:solidFill>
            <a:prstDash val="solid"/>
          </a:ln>
        </p:spPr>
      </p:sp>
      <p:sp>
        <p:nvSpPr>
          <p:cNvPr id="32" name="Shape 30"/>
          <p:cNvSpPr/>
          <p:nvPr/>
        </p:nvSpPr>
        <p:spPr>
          <a:xfrm>
            <a:off x="5303520" y="1325880"/>
            <a:ext cx="91440" cy="91440"/>
          </a:xfrm>
          <a:prstGeom prst="ellipse">
            <a:avLst/>
          </a:prstGeom>
          <a:solidFill>
            <a:srgbClr val="F5A623"/>
          </a:solidFill>
          <a:ln w="12700">
            <a:solidFill>
              <a:srgbClr val="F5A623"/>
            </a:solidFill>
            <a:prstDash val="solid"/>
          </a:ln>
        </p:spPr>
      </p:sp>
      <p:sp>
        <p:nvSpPr>
          <p:cNvPr id="33" name="Shape 31"/>
          <p:cNvSpPr/>
          <p:nvPr/>
        </p:nvSpPr>
        <p:spPr>
          <a:xfrm>
            <a:off x="5431536" y="1325880"/>
            <a:ext cx="91440" cy="91440"/>
          </a:xfrm>
          <a:prstGeom prst="ellipse">
            <a:avLst/>
          </a:prstGeom>
          <a:solidFill>
            <a:srgbClr val="0D9488"/>
          </a:solidFill>
          <a:ln w="12700">
            <a:solidFill>
              <a:srgbClr val="0D9488"/>
            </a:solidFill>
            <a:prstDash val="solid"/>
          </a:ln>
        </p:spPr>
      </p:sp>
      <p:sp>
        <p:nvSpPr>
          <p:cNvPr id="34" name="Text 32"/>
          <p:cNvSpPr/>
          <p:nvPr/>
        </p:nvSpPr>
        <p:spPr>
          <a:xfrm>
            <a:off x="5577840" y="1289304"/>
            <a:ext cx="3108960" cy="237744"/>
          </a:xfrm>
          <a:prstGeom prst="rect">
            <a:avLst/>
          </a:prstGeom>
          <a:noFill/>
          <a:ln/>
        </p:spPr>
        <p:txBody>
          <a:bodyPr wrap="square" lIns="0" tIns="0" rIns="0" bIns="0" rtlCol="0" anchor="ctr"/>
          <a:lstStyle/>
          <a:p>
            <a:pPr algn="l" indent="0" marL="0">
              <a:buNone/>
            </a:pPr>
            <a:r>
              <a:rPr lang="en-US" sz="750" dirty="0">
                <a:solidFill>
                  <a:srgbClr val="8898A8"/>
                </a:solidFill>
              </a:rPr>
              <a:t>Content Strategy Engine — localhost:8501</a:t>
            </a:r>
            <a:endParaRPr lang="en-US" sz="750" dirty="0"/>
          </a:p>
        </p:txBody>
      </p:sp>
      <p:sp>
        <p:nvSpPr>
          <p:cNvPr id="35" name="Shape 33"/>
          <p:cNvSpPr/>
          <p:nvPr/>
        </p:nvSpPr>
        <p:spPr>
          <a:xfrm>
            <a:off x="5074920" y="1536192"/>
            <a:ext cx="1005840" cy="3108960"/>
          </a:xfrm>
          <a:prstGeom prst="rect">
            <a:avLst/>
          </a:prstGeom>
          <a:solidFill>
            <a:srgbClr val="0F1F3D"/>
          </a:solidFill>
          <a:ln/>
        </p:spPr>
      </p:sp>
      <p:sp>
        <p:nvSpPr>
          <p:cNvPr id="36" name="Text 34"/>
          <p:cNvSpPr/>
          <p:nvPr/>
        </p:nvSpPr>
        <p:spPr>
          <a:xfrm>
            <a:off x="5120640" y="1600200"/>
            <a:ext cx="914400" cy="2971800"/>
          </a:xfrm>
          <a:prstGeom prst="rect">
            <a:avLst/>
          </a:prstGeom>
          <a:noFill/>
          <a:ln/>
        </p:spPr>
        <p:txBody>
          <a:bodyPr wrap="square" lIns="0" tIns="0" rIns="0" bIns="0" rtlCol="0" anchor="ctr"/>
          <a:lstStyle/>
          <a:p>
            <a:pPr algn="l" indent="0" marL="0">
              <a:buNone/>
            </a:pPr>
            <a:r>
              <a:rPr lang="en-US" sz="850" dirty="0">
                <a:solidFill>
                  <a:srgbClr val="6ECDC4"/>
                </a:solidFill>
              </a:rPr>
              <a:t>⚙ Settings</a:t>
            </a:r>
            <a:endParaRPr lang="en-US" sz="850" dirty="0"/>
          </a:p>
          <a:p>
            <a:pPr algn="l" indent="0" marL="0">
              <a:buNone/>
            </a:pPr>
            <a:r>
              <a:rPr lang="en-US" sz="850" dirty="0">
                <a:solidFill>
                  <a:srgbClr val="6ECDC4"/>
                </a:solidFill>
              </a:rPr>
              <a:t>─────</a:t>
            </a:r>
            <a:endParaRPr lang="en-US" sz="850" dirty="0"/>
          </a:p>
          <a:p>
            <a:pPr algn="l" indent="0" marL="0">
              <a:buNone/>
            </a:pPr>
            <a:r>
              <a:rPr lang="en-US" sz="850" dirty="0">
                <a:solidFill>
                  <a:srgbClr val="6ECDC4"/>
                </a:solidFill>
              </a:rPr>
              <a:t>Niche ▼</a:t>
            </a:r>
            <a:endParaRPr lang="en-US" sz="850" dirty="0"/>
          </a:p>
          <a:p>
            <a:pPr algn="l" indent="0" marL="0">
              <a:buNone/>
            </a:pPr>
            <a:r>
              <a:rPr lang="en-US" sz="850" dirty="0">
                <a:solidFill>
                  <a:srgbClr val="6ECDC4"/>
                </a:solidFill>
              </a:rPr>
              <a:t>Topic ▼</a:t>
            </a:r>
            <a:endParaRPr lang="en-US" sz="850" dirty="0"/>
          </a:p>
          <a:p>
            <a:pPr algn="l" indent="0" marL="0">
              <a:buNone/>
            </a:pPr>
            <a:r>
              <a:rPr lang="en-US" sz="850" dirty="0">
                <a:solidFill>
                  <a:srgbClr val="6ECDC4"/>
                </a:solidFill>
              </a:rPr>
              <a:t>Format ▼</a:t>
            </a:r>
            <a:endParaRPr lang="en-US" sz="850" dirty="0"/>
          </a:p>
          <a:p>
            <a:pPr algn="l" indent="0" marL="0">
              <a:buNone/>
            </a:pPr>
            <a:r>
              <a:rPr lang="en-US" sz="850" dirty="0">
                <a:solidFill>
                  <a:srgbClr val="6ECDC4"/>
                </a:solidFill>
              </a:rPr>
              <a:t>Hook ▼</a:t>
            </a:r>
            <a:endParaRPr lang="en-US" sz="850" dirty="0"/>
          </a:p>
          <a:p>
            <a:pPr algn="l" indent="0" marL="0">
              <a:buNone/>
            </a:pPr>
            <a:r>
              <a:rPr lang="en-US" sz="850" dirty="0">
                <a:solidFill>
                  <a:srgbClr val="6ECDC4"/>
                </a:solidFill>
              </a:rPr>
              <a:t>─────</a:t>
            </a:r>
            <a:endParaRPr lang="en-US" sz="850" dirty="0"/>
          </a:p>
          <a:p>
            <a:pPr algn="l" indent="0" marL="0">
              <a:buNone/>
            </a:pPr>
            <a:r>
              <a:rPr lang="en-US" sz="850" dirty="0">
                <a:solidFill>
                  <a:srgbClr val="6ECDC4"/>
                </a:solidFill>
              </a:rPr>
              <a:t>Export</a:t>
            </a:r>
            <a:endParaRPr lang="en-US" sz="850" dirty="0"/>
          </a:p>
          <a:p>
            <a:pPr algn="l" indent="0" marL="0">
              <a:buNone/>
            </a:pPr>
            <a:r>
              <a:rPr lang="en-US" sz="850" dirty="0">
                <a:solidFill>
                  <a:srgbClr val="6ECDC4"/>
                </a:solidFill>
              </a:rPr>
              <a:t>Generate</a:t>
            </a:r>
            <a:endParaRPr lang="en-US" sz="850" dirty="0"/>
          </a:p>
        </p:txBody>
      </p:sp>
      <p:sp>
        <p:nvSpPr>
          <p:cNvPr id="37" name="Shape 35"/>
          <p:cNvSpPr/>
          <p:nvPr/>
        </p:nvSpPr>
        <p:spPr>
          <a:xfrm>
            <a:off x="6144768" y="1572768"/>
            <a:ext cx="2578608" cy="822960"/>
          </a:xfrm>
          <a:prstGeom prst="rect">
            <a:avLst/>
          </a:prstGeom>
          <a:solidFill>
            <a:srgbClr val="FFFFFF"/>
          </a:solidFill>
          <a:ln/>
        </p:spPr>
      </p:sp>
      <p:sp>
        <p:nvSpPr>
          <p:cNvPr id="38" name="Text 36"/>
          <p:cNvSpPr/>
          <p:nvPr/>
        </p:nvSpPr>
        <p:spPr>
          <a:xfrm>
            <a:off x="6199632" y="1600200"/>
            <a:ext cx="2468880" cy="201168"/>
          </a:xfrm>
          <a:prstGeom prst="rect">
            <a:avLst/>
          </a:prstGeom>
          <a:noFill/>
          <a:ln/>
        </p:spPr>
        <p:txBody>
          <a:bodyPr wrap="square" lIns="0" tIns="0" rIns="0" bIns="0" rtlCol="0" anchor="ctr"/>
          <a:lstStyle/>
          <a:p>
            <a:pPr algn="l" indent="0" marL="0">
              <a:buNone/>
            </a:pPr>
            <a:r>
              <a:rPr lang="en-US" sz="800" b="1" dirty="0">
                <a:solidFill>
                  <a:srgbClr val="8898A8"/>
                </a:solidFill>
              </a:rPr>
              <a:t>Top combo</a:t>
            </a:r>
            <a:endParaRPr lang="en-US" sz="800" dirty="0"/>
          </a:p>
        </p:txBody>
      </p:sp>
      <p:sp>
        <p:nvSpPr>
          <p:cNvPr id="39" name="Text 37"/>
          <p:cNvSpPr/>
          <p:nvPr/>
        </p:nvSpPr>
        <p:spPr>
          <a:xfrm>
            <a:off x="6199632" y="1801368"/>
            <a:ext cx="2468880" cy="502920"/>
          </a:xfrm>
          <a:prstGeom prst="rect">
            <a:avLst/>
          </a:prstGeom>
          <a:noFill/>
          <a:ln/>
        </p:spPr>
        <p:txBody>
          <a:bodyPr wrap="square" lIns="0" tIns="0" rIns="0" bIns="0" rtlCol="0" anchor="ctr"/>
          <a:lstStyle/>
          <a:p>
            <a:pPr algn="l" indent="0" marL="0">
              <a:buNone/>
            </a:pPr>
            <a:r>
              <a:rPr lang="en-US" sz="1400" b="1" dirty="0">
                <a:solidFill>
                  <a:srgbClr val="0F1F3D"/>
                </a:solidFill>
              </a:rPr>
              <a:t>Recovery + How-To</a:t>
            </a:r>
            <a:endParaRPr lang="en-US" sz="1400" dirty="0"/>
          </a:p>
        </p:txBody>
      </p:sp>
      <p:sp>
        <p:nvSpPr>
          <p:cNvPr id="40" name="Shape 38"/>
          <p:cNvSpPr/>
          <p:nvPr/>
        </p:nvSpPr>
        <p:spPr>
          <a:xfrm>
            <a:off x="6144768" y="2450592"/>
            <a:ext cx="2578608" cy="749808"/>
          </a:xfrm>
          <a:prstGeom prst="rect">
            <a:avLst/>
          </a:prstGeom>
          <a:solidFill>
            <a:srgbClr val="FFFFFF"/>
          </a:solidFill>
          <a:ln/>
        </p:spPr>
      </p:sp>
      <p:sp>
        <p:nvSpPr>
          <p:cNvPr id="41" name="Text 39"/>
          <p:cNvSpPr/>
          <p:nvPr/>
        </p:nvSpPr>
        <p:spPr>
          <a:xfrm>
            <a:off x="6199632" y="2478024"/>
            <a:ext cx="2468880" cy="201168"/>
          </a:xfrm>
          <a:prstGeom prst="rect">
            <a:avLst/>
          </a:prstGeom>
          <a:noFill/>
          <a:ln/>
        </p:spPr>
        <p:txBody>
          <a:bodyPr wrap="square" lIns="0" tIns="0" rIns="0" bIns="0" rtlCol="0" anchor="ctr"/>
          <a:lstStyle/>
          <a:p>
            <a:pPr algn="l" indent="0" marL="0">
              <a:buNone/>
            </a:pPr>
            <a:r>
              <a:rPr lang="en-US" sz="800" b="1" dirty="0">
                <a:solidFill>
                  <a:srgbClr val="8898A8"/>
                </a:solidFill>
              </a:rPr>
              <a:t>Post window</a:t>
            </a:r>
            <a:endParaRPr lang="en-US" sz="800" dirty="0"/>
          </a:p>
        </p:txBody>
      </p:sp>
      <p:sp>
        <p:nvSpPr>
          <p:cNvPr id="42" name="Text 40"/>
          <p:cNvSpPr/>
          <p:nvPr/>
        </p:nvSpPr>
        <p:spPr>
          <a:xfrm>
            <a:off x="6199632" y="2679192"/>
            <a:ext cx="2468880" cy="411480"/>
          </a:xfrm>
          <a:prstGeom prst="rect">
            <a:avLst/>
          </a:prstGeom>
          <a:noFill/>
          <a:ln/>
        </p:spPr>
        <p:txBody>
          <a:bodyPr wrap="square" lIns="0" tIns="0" rIns="0" bIns="0" rtlCol="0" anchor="ctr"/>
          <a:lstStyle/>
          <a:p>
            <a:pPr algn="l" indent="0" marL="0">
              <a:buNone/>
            </a:pPr>
            <a:r>
              <a:rPr lang="en-US" sz="1300" b="1" dirty="0">
                <a:solidFill>
                  <a:srgbClr val="1A5FA8"/>
                </a:solidFill>
              </a:rPr>
              <a:t>Tue–Thu  7–11 AM</a:t>
            </a:r>
            <a:endParaRPr lang="en-US" sz="1300" dirty="0"/>
          </a:p>
        </p:txBody>
      </p:sp>
      <p:sp>
        <p:nvSpPr>
          <p:cNvPr id="43" name="Shape 41"/>
          <p:cNvSpPr/>
          <p:nvPr/>
        </p:nvSpPr>
        <p:spPr>
          <a:xfrm>
            <a:off x="6144768" y="3255264"/>
            <a:ext cx="2578608" cy="749808"/>
          </a:xfrm>
          <a:prstGeom prst="rect">
            <a:avLst/>
          </a:prstGeom>
          <a:solidFill>
            <a:srgbClr val="FFFFFF"/>
          </a:solidFill>
          <a:ln/>
        </p:spPr>
      </p:sp>
      <p:sp>
        <p:nvSpPr>
          <p:cNvPr id="44" name="Text 42"/>
          <p:cNvSpPr/>
          <p:nvPr/>
        </p:nvSpPr>
        <p:spPr>
          <a:xfrm>
            <a:off x="6199632" y="3282696"/>
            <a:ext cx="2468880" cy="201168"/>
          </a:xfrm>
          <a:prstGeom prst="rect">
            <a:avLst/>
          </a:prstGeom>
          <a:noFill/>
          <a:ln/>
        </p:spPr>
        <p:txBody>
          <a:bodyPr wrap="square" lIns="0" tIns="0" rIns="0" bIns="0" rtlCol="0" anchor="ctr"/>
          <a:lstStyle/>
          <a:p>
            <a:pPr algn="l" indent="0" marL="0">
              <a:buNone/>
            </a:pPr>
            <a:r>
              <a:rPr lang="en-US" sz="800" b="1" dirty="0">
                <a:solidFill>
                  <a:srgbClr val="8898A8"/>
                </a:solidFill>
              </a:rPr>
              <a:t>Hook</a:t>
            </a:r>
            <a:endParaRPr lang="en-US" sz="800" dirty="0"/>
          </a:p>
        </p:txBody>
      </p:sp>
      <p:sp>
        <p:nvSpPr>
          <p:cNvPr id="45" name="Text 43"/>
          <p:cNvSpPr/>
          <p:nvPr/>
        </p:nvSpPr>
        <p:spPr>
          <a:xfrm>
            <a:off x="6199632" y="3483864"/>
            <a:ext cx="2468880" cy="411480"/>
          </a:xfrm>
          <a:prstGeom prst="rect">
            <a:avLst/>
          </a:prstGeom>
          <a:noFill/>
          <a:ln/>
        </p:spPr>
        <p:txBody>
          <a:bodyPr wrap="square" lIns="0" tIns="0" rIns="0" bIns="0" rtlCol="0" anchor="ctr"/>
          <a:lstStyle/>
          <a:p>
            <a:pPr algn="l" indent="0" marL="0">
              <a:buNone/>
            </a:pPr>
            <a:r>
              <a:rPr lang="en-US" sz="1300" b="1" dirty="0">
                <a:solidFill>
                  <a:srgbClr val="0D9488"/>
                </a:solidFill>
              </a:rPr>
              <a:t>Question style</a:t>
            </a:r>
            <a:endParaRPr lang="en-US" sz="1300" dirty="0"/>
          </a:p>
        </p:txBody>
      </p:sp>
      <p:sp>
        <p:nvSpPr>
          <p:cNvPr id="46" name="Shape 44"/>
          <p:cNvSpPr/>
          <p:nvPr/>
        </p:nvSpPr>
        <p:spPr>
          <a:xfrm>
            <a:off x="5074920" y="4151376"/>
            <a:ext cx="3703320" cy="493776"/>
          </a:xfrm>
          <a:prstGeom prst="rect">
            <a:avLst/>
          </a:prstGeom>
          <a:solidFill>
            <a:srgbClr val="0F1F3D"/>
          </a:solidFill>
          <a:ln/>
        </p:spPr>
      </p:sp>
      <p:sp>
        <p:nvSpPr>
          <p:cNvPr id="47" name="Text 45"/>
          <p:cNvSpPr/>
          <p:nvPr/>
        </p:nvSpPr>
        <p:spPr>
          <a:xfrm>
            <a:off x="5166360" y="4206240"/>
            <a:ext cx="3520440" cy="384048"/>
          </a:xfrm>
          <a:prstGeom prst="rect">
            <a:avLst/>
          </a:prstGeom>
          <a:noFill/>
          <a:ln/>
        </p:spPr>
        <p:txBody>
          <a:bodyPr wrap="square" lIns="0" tIns="0" rIns="0" bIns="0" rtlCol="0" anchor="ctr"/>
          <a:lstStyle/>
          <a:p>
            <a:pPr algn="ctr" indent="0" marL="0">
              <a:buNone/>
            </a:pPr>
            <a:r>
              <a:rPr lang="en-US" sz="1300" b="1" dirty="0">
                <a:solidFill>
                  <a:srgbClr val="F5A623"/>
                </a:solidFill>
              </a:rPr>
              <a:t>✦  Generate AI Draft →</a:t>
            </a:r>
            <a:endParaRPr lang="en-US" sz="1300" dirty="0"/>
          </a:p>
        </p:txBody>
      </p:sp>
      <p:sp>
        <p:nvSpPr>
          <p:cNvPr id="48" name="Shape 46"/>
          <p:cNvSpPr/>
          <p:nvPr/>
        </p:nvSpPr>
        <p:spPr>
          <a:xfrm>
            <a:off x="0" y="4846320"/>
            <a:ext cx="9144000" cy="297180"/>
          </a:xfrm>
          <a:prstGeom prst="rect">
            <a:avLst/>
          </a:prstGeom>
          <a:solidFill>
            <a:srgbClr val="0F1F3D"/>
          </a:solidFill>
          <a:ln w="12700">
            <a:solidFill>
              <a:srgbClr val="0F1F3D"/>
            </a:solidFill>
            <a:prstDash val="solid"/>
          </a:ln>
        </p:spPr>
      </p:sp>
      <p:sp>
        <p:nvSpPr>
          <p:cNvPr id="49" name="Text 47"/>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12 / 13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p:bgPr>
    </p:bg>
    <p:spTree>
      <p:nvGrpSpPr>
        <p:cNvPr id="1" name=""/>
        <p:cNvGrpSpPr/>
        <p:nvPr/>
      </p:nvGrpSpPr>
      <p:grpSpPr>
        <a:xfrm>
          <a:off x="0" y="0"/>
          <a:ext cx="0" cy="0"/>
          <a:chOff x="0" y="0"/>
          <a:chExt cx="0" cy="0"/>
        </a:xfrm>
      </p:grpSpPr>
      <p:sp>
        <p:nvSpPr>
          <p:cNvPr id="2" name="Text 0"/>
          <p:cNvSpPr/>
          <p:nvPr/>
        </p:nvSpPr>
        <p:spPr>
          <a:xfrm>
            <a:off x="548640" y="274320"/>
            <a:ext cx="8229600" cy="1005840"/>
          </a:xfrm>
          <a:prstGeom prst="rect">
            <a:avLst/>
          </a:prstGeom>
          <a:noFill/>
          <a:ln/>
        </p:spPr>
        <p:txBody>
          <a:bodyPr wrap="square" lIns="0" tIns="0" rIns="0" bIns="0" rtlCol="0" anchor="ctr"/>
          <a:lstStyle/>
          <a:p>
            <a:pPr algn="l" indent="0" marL="0">
              <a:buNone/>
            </a:pPr>
            <a:r>
              <a:rPr lang="en-US" sz="5400" b="1" dirty="0">
                <a:solidFill>
                  <a:srgbClr val="FFFFFF"/>
                </a:solidFill>
                <a:latin typeface="Georgia" pitchFamily="34" charset="0"/>
                <a:ea typeface="Georgia" pitchFamily="34" charset="-122"/>
                <a:cs typeface="Georgia" pitchFamily="34" charset="-120"/>
              </a:rPr>
              <a:t>The future of content</a:t>
            </a:r>
            <a:endParaRPr lang="en-US" sz="5400" dirty="0"/>
          </a:p>
        </p:txBody>
      </p:sp>
      <p:sp>
        <p:nvSpPr>
          <p:cNvPr id="3" name="Text 1"/>
          <p:cNvSpPr/>
          <p:nvPr/>
        </p:nvSpPr>
        <p:spPr>
          <a:xfrm>
            <a:off x="548640" y="1234440"/>
            <a:ext cx="8229600" cy="914400"/>
          </a:xfrm>
          <a:prstGeom prst="rect">
            <a:avLst/>
          </a:prstGeom>
          <a:noFill/>
          <a:ln/>
        </p:spPr>
        <p:txBody>
          <a:bodyPr wrap="square" lIns="0" tIns="0" rIns="0" bIns="0" rtlCol="0" anchor="ctr"/>
          <a:lstStyle/>
          <a:p>
            <a:pPr algn="l" indent="0" marL="0">
              <a:buNone/>
            </a:pPr>
            <a:r>
              <a:rPr lang="en-US" sz="5400" b="1" dirty="0">
                <a:solidFill>
                  <a:srgbClr val="FFFFFF"/>
                </a:solidFill>
                <a:latin typeface="Georgia" pitchFamily="34" charset="0"/>
                <a:ea typeface="Georgia" pitchFamily="34" charset="-122"/>
                <a:cs typeface="Georgia" pitchFamily="34" charset="-120"/>
              </a:rPr>
              <a:t>isn't a guess.</a:t>
            </a:r>
            <a:endParaRPr lang="en-US" sz="5400" dirty="0"/>
          </a:p>
        </p:txBody>
      </p:sp>
      <p:sp>
        <p:nvSpPr>
          <p:cNvPr id="4" name="Text 2"/>
          <p:cNvSpPr/>
          <p:nvPr/>
        </p:nvSpPr>
        <p:spPr>
          <a:xfrm>
            <a:off x="548640" y="2121408"/>
            <a:ext cx="8229600" cy="914400"/>
          </a:xfrm>
          <a:prstGeom prst="rect">
            <a:avLst/>
          </a:prstGeom>
          <a:noFill/>
          <a:ln/>
        </p:spPr>
        <p:txBody>
          <a:bodyPr wrap="square" lIns="0" tIns="0" rIns="0" bIns="0" rtlCol="0" anchor="ctr"/>
          <a:lstStyle/>
          <a:p>
            <a:pPr algn="l" indent="0" marL="0">
              <a:buNone/>
            </a:pPr>
            <a:r>
              <a:rPr lang="en-US" sz="5400" b="1" dirty="0">
                <a:solidFill>
                  <a:srgbClr val="F5A623"/>
                </a:solidFill>
                <a:latin typeface="Georgia" pitchFamily="34" charset="0"/>
                <a:ea typeface="Georgia" pitchFamily="34" charset="-122"/>
                <a:cs typeface="Georgia" pitchFamily="34" charset="-120"/>
              </a:rPr>
              <a:t>It's a strategy.</a:t>
            </a:r>
            <a:endParaRPr lang="en-US" sz="5400" dirty="0"/>
          </a:p>
        </p:txBody>
      </p:sp>
      <p:sp>
        <p:nvSpPr>
          <p:cNvPr id="5" name="Shape 3"/>
          <p:cNvSpPr/>
          <p:nvPr/>
        </p:nvSpPr>
        <p:spPr>
          <a:xfrm>
            <a:off x="548640" y="3127248"/>
            <a:ext cx="8046720" cy="54864"/>
          </a:xfrm>
          <a:prstGeom prst="rect">
            <a:avLst/>
          </a:prstGeom>
          <a:solidFill>
            <a:srgbClr val="0D9488"/>
          </a:solidFill>
          <a:ln w="12700">
            <a:solidFill>
              <a:srgbClr val="0D9488"/>
            </a:solidFill>
            <a:prstDash val="solid"/>
          </a:ln>
        </p:spPr>
      </p:sp>
      <p:sp>
        <p:nvSpPr>
          <p:cNvPr id="6" name="Text 4"/>
          <p:cNvSpPr/>
          <p:nvPr/>
        </p:nvSpPr>
        <p:spPr>
          <a:xfrm>
            <a:off x="548640" y="3273552"/>
            <a:ext cx="1920240" cy="475488"/>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12K</a:t>
            </a:r>
            <a:endParaRPr lang="en-US" sz="2200" dirty="0"/>
          </a:p>
        </p:txBody>
      </p:sp>
      <p:sp>
        <p:nvSpPr>
          <p:cNvPr id="7" name="Text 5"/>
          <p:cNvSpPr/>
          <p:nvPr/>
        </p:nvSpPr>
        <p:spPr>
          <a:xfrm>
            <a:off x="548640" y="3749040"/>
            <a:ext cx="1920240" cy="228600"/>
          </a:xfrm>
          <a:prstGeom prst="rect">
            <a:avLst/>
          </a:prstGeom>
          <a:noFill/>
          <a:ln/>
        </p:spPr>
        <p:txBody>
          <a:bodyPr wrap="square" lIns="0" tIns="0" rIns="0" bIns="0" rtlCol="0" anchor="ctr"/>
          <a:lstStyle/>
          <a:p>
            <a:pPr algn="ctr" indent="0" marL="0">
              <a:buNone/>
            </a:pPr>
            <a:r>
              <a:rPr lang="en-US" sz="950" dirty="0">
                <a:solidFill>
                  <a:srgbClr val="8898A8"/>
                </a:solidFill>
              </a:rPr>
              <a:t>posts</a:t>
            </a:r>
            <a:endParaRPr lang="en-US" sz="950" dirty="0"/>
          </a:p>
        </p:txBody>
      </p:sp>
      <p:sp>
        <p:nvSpPr>
          <p:cNvPr id="8" name="Text 6"/>
          <p:cNvSpPr/>
          <p:nvPr/>
        </p:nvSpPr>
        <p:spPr>
          <a:xfrm>
            <a:off x="2651760" y="3273552"/>
            <a:ext cx="1920240" cy="475488"/>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R²=0.27</a:t>
            </a:r>
            <a:endParaRPr lang="en-US" sz="2200" dirty="0"/>
          </a:p>
        </p:txBody>
      </p:sp>
      <p:sp>
        <p:nvSpPr>
          <p:cNvPr id="9" name="Text 7"/>
          <p:cNvSpPr/>
          <p:nvPr/>
        </p:nvSpPr>
        <p:spPr>
          <a:xfrm>
            <a:off x="2651760" y="3749040"/>
            <a:ext cx="1920240" cy="228600"/>
          </a:xfrm>
          <a:prstGeom prst="rect">
            <a:avLst/>
          </a:prstGeom>
          <a:noFill/>
          <a:ln/>
        </p:spPr>
        <p:txBody>
          <a:bodyPr wrap="square" lIns="0" tIns="0" rIns="0" bIns="0" rtlCol="0" anchor="ctr"/>
          <a:lstStyle/>
          <a:p>
            <a:pPr algn="ctr" indent="0" marL="0">
              <a:buNone/>
            </a:pPr>
            <a:r>
              <a:rPr lang="en-US" sz="950" dirty="0">
                <a:solidFill>
                  <a:srgbClr val="8898A8"/>
                </a:solidFill>
              </a:rPr>
              <a:t>explained</a:t>
            </a:r>
            <a:endParaRPr lang="en-US" sz="950" dirty="0"/>
          </a:p>
        </p:txBody>
      </p:sp>
      <p:sp>
        <p:nvSpPr>
          <p:cNvPr id="10" name="Text 8"/>
          <p:cNvSpPr/>
          <p:nvPr/>
        </p:nvSpPr>
        <p:spPr>
          <a:xfrm>
            <a:off x="4754880" y="3273552"/>
            <a:ext cx="1920240" cy="475488"/>
          </a:xfrm>
          <a:prstGeom prst="rect">
            <a:avLst/>
          </a:prstGeom>
          <a:noFill/>
          <a:ln/>
        </p:spPr>
        <p:txBody>
          <a:bodyPr wrap="square" lIns="0" tIns="0" rIns="0" bIns="0" rtlCol="0" anchor="ctr"/>
          <a:lstStyle/>
          <a:p>
            <a:pPr algn="ctr" indent="0" marL="0">
              <a:buNone/>
            </a:pPr>
            <a:r>
              <a:rPr lang="en-US" sz="2200" b="1" dirty="0">
                <a:solidFill>
                  <a:srgbClr val="F5A623"/>
                </a:solidFill>
                <a:latin typeface="Georgia" pitchFamily="34" charset="0"/>
                <a:ea typeface="Georgia" pitchFamily="34" charset="-122"/>
                <a:cs typeface="Georgia" pitchFamily="34" charset="-120"/>
              </a:rPr>
              <a:t>+37%</a:t>
            </a:r>
            <a:endParaRPr lang="en-US" sz="2200" dirty="0"/>
          </a:p>
        </p:txBody>
      </p:sp>
      <p:sp>
        <p:nvSpPr>
          <p:cNvPr id="11" name="Text 9"/>
          <p:cNvSpPr/>
          <p:nvPr/>
        </p:nvSpPr>
        <p:spPr>
          <a:xfrm>
            <a:off x="4754880" y="3749040"/>
            <a:ext cx="1920240" cy="228600"/>
          </a:xfrm>
          <a:prstGeom prst="rect">
            <a:avLst/>
          </a:prstGeom>
          <a:noFill/>
          <a:ln/>
        </p:spPr>
        <p:txBody>
          <a:bodyPr wrap="square" lIns="0" tIns="0" rIns="0" bIns="0" rtlCol="0" anchor="ctr"/>
          <a:lstStyle/>
          <a:p>
            <a:pPr algn="ctr" indent="0" marL="0">
              <a:buNone/>
            </a:pPr>
            <a:r>
              <a:rPr lang="en-US" sz="950" dirty="0">
                <a:solidFill>
                  <a:srgbClr val="8898A8"/>
                </a:solidFill>
              </a:rPr>
              <a:t>lift</a:t>
            </a:r>
            <a:endParaRPr lang="en-US" sz="950" dirty="0"/>
          </a:p>
        </p:txBody>
      </p:sp>
      <p:sp>
        <p:nvSpPr>
          <p:cNvPr id="12" name="Text 10"/>
          <p:cNvSpPr/>
          <p:nvPr/>
        </p:nvSpPr>
        <p:spPr>
          <a:xfrm>
            <a:off x="6858000" y="3273552"/>
            <a:ext cx="1920240" cy="475488"/>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p&lt;.001</a:t>
            </a:r>
            <a:endParaRPr lang="en-US" sz="2200" dirty="0"/>
          </a:p>
        </p:txBody>
      </p:sp>
      <p:sp>
        <p:nvSpPr>
          <p:cNvPr id="13" name="Text 11"/>
          <p:cNvSpPr/>
          <p:nvPr/>
        </p:nvSpPr>
        <p:spPr>
          <a:xfrm>
            <a:off x="6858000" y="3749040"/>
            <a:ext cx="1920240" cy="228600"/>
          </a:xfrm>
          <a:prstGeom prst="rect">
            <a:avLst/>
          </a:prstGeom>
          <a:noFill/>
          <a:ln/>
        </p:spPr>
        <p:txBody>
          <a:bodyPr wrap="square" lIns="0" tIns="0" rIns="0" bIns="0" rtlCol="0" anchor="ctr"/>
          <a:lstStyle/>
          <a:p>
            <a:pPr algn="ctr" indent="0" marL="0">
              <a:buNone/>
            </a:pPr>
            <a:r>
              <a:rPr lang="en-US" sz="950" dirty="0">
                <a:solidFill>
                  <a:srgbClr val="8898A8"/>
                </a:solidFill>
              </a:rPr>
              <a:t>all 3 tests</a:t>
            </a:r>
            <a:endParaRPr lang="en-US" sz="950" dirty="0"/>
          </a:p>
        </p:txBody>
      </p:sp>
      <p:sp>
        <p:nvSpPr>
          <p:cNvPr id="14" name="Shape 12"/>
          <p:cNvSpPr/>
          <p:nvPr/>
        </p:nvSpPr>
        <p:spPr>
          <a:xfrm>
            <a:off x="548640" y="4114800"/>
            <a:ext cx="8046720" cy="36576"/>
          </a:xfrm>
          <a:prstGeom prst="rect">
            <a:avLst/>
          </a:prstGeom>
          <a:solidFill>
            <a:srgbClr val="333333"/>
          </a:solidFill>
          <a:ln w="12700">
            <a:solidFill>
              <a:srgbClr val="333333"/>
            </a:solidFill>
            <a:prstDash val="solid"/>
          </a:ln>
        </p:spPr>
      </p:sp>
      <p:sp>
        <p:nvSpPr>
          <p:cNvPr id="15" name="Text 13"/>
          <p:cNvSpPr/>
          <p:nvPr/>
        </p:nvSpPr>
        <p:spPr>
          <a:xfrm>
            <a:off x="548640" y="4233672"/>
            <a:ext cx="8046720" cy="256032"/>
          </a:xfrm>
          <a:prstGeom prst="rect">
            <a:avLst/>
          </a:prstGeom>
          <a:noFill/>
          <a:ln/>
        </p:spPr>
        <p:txBody>
          <a:bodyPr wrap="square" lIns="0" tIns="0" rIns="0" bIns="0" rtlCol="0" anchor="ctr"/>
          <a:lstStyle/>
          <a:p>
            <a:pPr algn="l" indent="0" marL="0">
              <a:buNone/>
            </a:pPr>
            <a:r>
              <a:rPr lang="en-US" sz="1000" dirty="0">
                <a:solidFill>
                  <a:srgbClr val="8898A8"/>
                </a:solidFill>
              </a:rPr>
              <a:t>Komal Shahid  ·  komalshahid49@gmail.com  ·  Bellevue MSDS  ·  DSC680 — May 2026</a:t>
            </a:r>
            <a:endParaRPr lang="en-US" sz="1000" dirty="0"/>
          </a:p>
        </p:txBody>
      </p:sp>
      <p:sp>
        <p:nvSpPr>
          <p:cNvPr id="16" name="Text 14"/>
          <p:cNvSpPr/>
          <p:nvPr/>
        </p:nvSpPr>
        <p:spPr>
          <a:xfrm>
            <a:off x="548640" y="4517136"/>
            <a:ext cx="8046720" cy="228600"/>
          </a:xfrm>
          <a:prstGeom prst="rect">
            <a:avLst/>
          </a:prstGeom>
          <a:noFill/>
          <a:ln/>
        </p:spPr>
        <p:txBody>
          <a:bodyPr wrap="square" lIns="0" tIns="0" rIns="0" bIns="0" rtlCol="0" anchor="ctr"/>
          <a:lstStyle/>
          <a:p>
            <a:pPr algn="l" indent="0" marL="0">
              <a:buNone/>
            </a:pPr>
            <a:r>
              <a:rPr lang="en-US" sz="1050" b="1" dirty="0">
                <a:solidFill>
                  <a:srgbClr val="6ECDC4"/>
                </a:solidFill>
              </a:rPr>
              <a:t>Questions welcome.</a:t>
            </a:r>
            <a:endParaRPr lang="en-US" sz="1050" dirty="0"/>
          </a:p>
        </p:txBody>
      </p:sp>
      <p:sp>
        <p:nvSpPr>
          <p:cNvPr id="17" name="Shape 15"/>
          <p:cNvSpPr/>
          <p:nvPr/>
        </p:nvSpPr>
        <p:spPr>
          <a:xfrm>
            <a:off x="0" y="4846320"/>
            <a:ext cx="9144000" cy="297180"/>
          </a:xfrm>
          <a:prstGeom prst="rect">
            <a:avLst/>
          </a:prstGeom>
          <a:solidFill>
            <a:srgbClr val="0F1F3D"/>
          </a:solidFill>
          <a:ln w="12700">
            <a:solidFill>
              <a:srgbClr val="0F1F3D"/>
            </a:solidFill>
            <a:prstDash val="solid"/>
          </a:ln>
        </p:spPr>
      </p:sp>
      <p:sp>
        <p:nvSpPr>
          <p:cNvPr id="18" name="Text 16"/>
          <p:cNvSpPr/>
          <p:nvPr/>
        </p:nvSpPr>
        <p:spPr>
          <a:xfrm>
            <a:off x="320040" y="4855464"/>
            <a:ext cx="8503920" cy="265176"/>
          </a:xfrm>
          <a:prstGeom prst="rect">
            <a:avLst/>
          </a:prstGeom>
          <a:noFill/>
          <a:ln/>
        </p:spPr>
        <p:txBody>
          <a:bodyPr wrap="square" lIns="0" tIns="0" rIns="0" bIns="0" rtlCol="0" anchor="ctr"/>
          <a:lstStyle/>
          <a:p>
            <a:pPr algn="l" indent="0" marL="0">
              <a:buNone/>
            </a:pPr>
            <a:r>
              <a:rPr lang="en-US" sz="850" dirty="0">
                <a:solidFill>
                  <a:srgbClr val="6ECDC4"/>
                </a:solidFill>
              </a:rPr>
              <a:t>AI-Driven Content Strategy Engine  ·  DSC680  ·  Komal Shahid          13 / 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Content Strategy Engine</dc:title>
  <dc:subject>PptxGenJS Presentation</dc:subject>
  <dc:creator>Komal Shahid</dc:creator>
  <cp:lastModifiedBy>Komal Shahid</cp:lastModifiedBy>
  <cp:revision>1</cp:revision>
  <dcterms:created xsi:type="dcterms:W3CDTF">2026-05-31T20:18:35Z</dcterms:created>
  <dcterms:modified xsi:type="dcterms:W3CDTF">2026-05-31T20:18:35Z</dcterms:modified>
</cp:coreProperties>
</file>